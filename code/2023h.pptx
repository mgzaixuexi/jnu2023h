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343" r:id="rId3"/>
    <p:sldId id="322" r:id="rId4"/>
    <p:sldId id="316" r:id="rId5"/>
    <p:sldId id="311" r:id="rId6"/>
    <p:sldId id="323" r:id="rId7"/>
    <p:sldId id="330" r:id="rId8"/>
    <p:sldId id="331" r:id="rId9"/>
    <p:sldId id="347" r:id="rId10"/>
    <p:sldId id="346" r:id="rId11"/>
    <p:sldId id="308" r:id="rId12"/>
    <p:sldId id="332" r:id="rId13"/>
    <p:sldId id="33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哲" initials="陈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FBE4D6"/>
    <a:srgbClr val="FFCE00"/>
    <a:srgbClr val="3DAF31"/>
    <a:srgbClr val="FF883B"/>
    <a:srgbClr val="017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>
      <p:cViewPr>
        <p:scale>
          <a:sx n="90" d="100"/>
          <a:sy n="90" d="100"/>
        </p:scale>
        <p:origin x="-1356" y="-660"/>
      </p:cViewPr>
      <p:guideLst>
        <p:guide orient="horz" pos="224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0" Type="http://schemas.openxmlformats.org/officeDocument/2006/relationships/image" Target="../media/image14.wmf"/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64E9F-5B5C-FE4C-BE6C-451C0F48B4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4F382-8F53-5F49-B547-216B6A80C4C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029585" y="575310"/>
            <a:ext cx="6126480" cy="678180"/>
          </a:xfrm>
        </p:spPr>
        <p:txBody>
          <a:bodyPr vert="horz" wrap="none" lIns="91440" tIns="45720" rIns="91440" bIns="45720" rtlCol="0" anchor="t" anchorCtr="0">
            <a:noAutofit/>
          </a:bodyPr>
          <a:lstStyle>
            <a:defPPr>
              <a:defRPr lang="zh-CN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indent="0">
              <a:buNone/>
              <a:defRPr>
                <a:latin typeface="HarmonyOS Sans Light" panose="00000400000000000000" charset="0"/>
              </a:defRPr>
            </a:lvl1pPr>
            <a:lvl2pPr marL="457200" indent="0">
              <a:buNone/>
              <a:defRPr>
                <a:latin typeface="HarmonyOS Sans Light" panose="00000400000000000000" charset="0"/>
              </a:defRPr>
            </a:lvl2pPr>
            <a:lvl3pPr marL="914400" indent="0">
              <a:buNone/>
              <a:defRPr>
                <a:latin typeface="HarmonyOS Sans Light" panose="00000400000000000000" charset="0"/>
              </a:defRPr>
            </a:lvl3pPr>
            <a:lvl4pPr marL="1371600" indent="0">
              <a:buNone/>
              <a:defRPr>
                <a:latin typeface="HarmonyOS Sans Light" panose="00000400000000000000" charset="0"/>
              </a:defRPr>
            </a:lvl4pPr>
            <a:lvl5pPr marL="1828800" indent="0">
              <a:buNone/>
              <a:defRPr>
                <a:latin typeface="HarmonyOS Sans Light" panose="00000400000000000000" charset="0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94560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83500"/>
            <a:ext cx="9144000" cy="239456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356349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6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7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8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oleObject" Target="../embeddings/oleObject10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29" Type="http://schemas.openxmlformats.org/officeDocument/2006/relationships/vmlDrawing" Target="../drawings/vmlDrawing4.vml"/><Relationship Id="rId28" Type="http://schemas.openxmlformats.org/officeDocument/2006/relationships/slideLayout" Target="../slideLayouts/slideLayout5.xml"/><Relationship Id="rId27" Type="http://schemas.openxmlformats.org/officeDocument/2006/relationships/tags" Target="../tags/tag9.xml"/><Relationship Id="rId26" Type="http://schemas.openxmlformats.org/officeDocument/2006/relationships/oleObject" Target="../embeddings/oleObject23.bin"/><Relationship Id="rId25" Type="http://schemas.openxmlformats.org/officeDocument/2006/relationships/oleObject" Target="../embeddings/oleObject22.bin"/><Relationship Id="rId24" Type="http://schemas.openxmlformats.org/officeDocument/2006/relationships/oleObject" Target="../embeddings/oleObject21.bin"/><Relationship Id="rId23" Type="http://schemas.openxmlformats.org/officeDocument/2006/relationships/image" Target="../media/image14.wmf"/><Relationship Id="rId22" Type="http://schemas.openxmlformats.org/officeDocument/2006/relationships/oleObject" Target="../embeddings/oleObject20.bin"/><Relationship Id="rId21" Type="http://schemas.openxmlformats.org/officeDocument/2006/relationships/oleObject" Target="../embeddings/oleObject19.bin"/><Relationship Id="rId20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9" Type="http://schemas.openxmlformats.org/officeDocument/2006/relationships/oleObject" Target="../embeddings/oleObject18.bin"/><Relationship Id="rId18" Type="http://schemas.openxmlformats.org/officeDocument/2006/relationships/oleObject" Target="../embeddings/oleObject17.bin"/><Relationship Id="rId17" Type="http://schemas.openxmlformats.org/officeDocument/2006/relationships/oleObject" Target="../embeddings/oleObject16.bin"/><Relationship Id="rId16" Type="http://schemas.openxmlformats.org/officeDocument/2006/relationships/oleObject" Target="../embeddings/oleObject15.bin"/><Relationship Id="rId15" Type="http://schemas.openxmlformats.org/officeDocument/2006/relationships/image" Target="../media/image12.wmf"/><Relationship Id="rId14" Type="http://schemas.openxmlformats.org/officeDocument/2006/relationships/oleObject" Target="../embeddings/oleObject14.bin"/><Relationship Id="rId13" Type="http://schemas.openxmlformats.org/officeDocument/2006/relationships/image" Target="../media/image11.wmf"/><Relationship Id="rId12" Type="http://schemas.openxmlformats.org/officeDocument/2006/relationships/oleObject" Target="../embeddings/oleObject13.bin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0.wmf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oleObject" Target="../embeddings/oleObject27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2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5.bin"/><Relationship Id="rId30" Type="http://schemas.openxmlformats.org/officeDocument/2006/relationships/vmlDrawing" Target="../drawings/vmlDrawing5.vml"/><Relationship Id="rId3" Type="http://schemas.openxmlformats.org/officeDocument/2006/relationships/image" Target="../media/image7.wmf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10.xml"/><Relationship Id="rId27" Type="http://schemas.openxmlformats.org/officeDocument/2006/relationships/image" Target="../media/image15.png"/><Relationship Id="rId26" Type="http://schemas.openxmlformats.org/officeDocument/2006/relationships/oleObject" Target="../embeddings/oleObject40.bin"/><Relationship Id="rId25" Type="http://schemas.openxmlformats.org/officeDocument/2006/relationships/oleObject" Target="../embeddings/oleObject39.bin"/><Relationship Id="rId24" Type="http://schemas.openxmlformats.org/officeDocument/2006/relationships/oleObject" Target="../embeddings/oleObject38.bin"/><Relationship Id="rId23" Type="http://schemas.openxmlformats.org/officeDocument/2006/relationships/image" Target="../media/image14.wmf"/><Relationship Id="rId22" Type="http://schemas.openxmlformats.org/officeDocument/2006/relationships/oleObject" Target="../embeddings/oleObject37.bin"/><Relationship Id="rId21" Type="http://schemas.openxmlformats.org/officeDocument/2006/relationships/oleObject" Target="../embeddings/oleObject36.bin"/><Relationship Id="rId20" Type="http://schemas.openxmlformats.org/officeDocument/2006/relationships/image" Target="../media/image13.wmf"/><Relationship Id="rId2" Type="http://schemas.openxmlformats.org/officeDocument/2006/relationships/oleObject" Target="../embeddings/oleObject24.bin"/><Relationship Id="rId19" Type="http://schemas.openxmlformats.org/officeDocument/2006/relationships/oleObject" Target="../embeddings/oleObject35.bin"/><Relationship Id="rId18" Type="http://schemas.openxmlformats.org/officeDocument/2006/relationships/oleObject" Target="../embeddings/oleObject34.bin"/><Relationship Id="rId17" Type="http://schemas.openxmlformats.org/officeDocument/2006/relationships/oleObject" Target="../embeddings/oleObject33.bin"/><Relationship Id="rId16" Type="http://schemas.openxmlformats.org/officeDocument/2006/relationships/oleObject" Target="../embeddings/oleObject32.bin"/><Relationship Id="rId15" Type="http://schemas.openxmlformats.org/officeDocument/2006/relationships/image" Target="../media/image12.wmf"/><Relationship Id="rId14" Type="http://schemas.openxmlformats.org/officeDocument/2006/relationships/oleObject" Target="../embeddings/oleObject31.bin"/><Relationship Id="rId13" Type="http://schemas.openxmlformats.org/officeDocument/2006/relationships/image" Target="../media/image11.wmf"/><Relationship Id="rId12" Type="http://schemas.openxmlformats.org/officeDocument/2006/relationships/oleObject" Target="../embeddings/oleObject30.bin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10.wmf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oleObject" Target="../embeddings/oleObject44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4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2.bin"/><Relationship Id="rId30" Type="http://schemas.openxmlformats.org/officeDocument/2006/relationships/vmlDrawing" Target="../drawings/vmlDrawing6.vml"/><Relationship Id="rId3" Type="http://schemas.openxmlformats.org/officeDocument/2006/relationships/image" Target="../media/image7.wmf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11.xml"/><Relationship Id="rId27" Type="http://schemas.openxmlformats.org/officeDocument/2006/relationships/image" Target="../media/image16.png"/><Relationship Id="rId26" Type="http://schemas.openxmlformats.org/officeDocument/2006/relationships/oleObject" Target="../embeddings/oleObject57.bin"/><Relationship Id="rId25" Type="http://schemas.openxmlformats.org/officeDocument/2006/relationships/oleObject" Target="../embeddings/oleObject56.bin"/><Relationship Id="rId24" Type="http://schemas.openxmlformats.org/officeDocument/2006/relationships/oleObject" Target="../embeddings/oleObject55.bin"/><Relationship Id="rId23" Type="http://schemas.openxmlformats.org/officeDocument/2006/relationships/image" Target="../media/image14.wmf"/><Relationship Id="rId22" Type="http://schemas.openxmlformats.org/officeDocument/2006/relationships/oleObject" Target="../embeddings/oleObject54.bin"/><Relationship Id="rId21" Type="http://schemas.openxmlformats.org/officeDocument/2006/relationships/oleObject" Target="../embeddings/oleObject53.bin"/><Relationship Id="rId20" Type="http://schemas.openxmlformats.org/officeDocument/2006/relationships/image" Target="../media/image13.wmf"/><Relationship Id="rId2" Type="http://schemas.openxmlformats.org/officeDocument/2006/relationships/oleObject" Target="../embeddings/oleObject41.bin"/><Relationship Id="rId19" Type="http://schemas.openxmlformats.org/officeDocument/2006/relationships/oleObject" Target="../embeddings/oleObject52.bin"/><Relationship Id="rId18" Type="http://schemas.openxmlformats.org/officeDocument/2006/relationships/oleObject" Target="../embeddings/oleObject51.bin"/><Relationship Id="rId17" Type="http://schemas.openxmlformats.org/officeDocument/2006/relationships/oleObject" Target="../embeddings/oleObject50.bin"/><Relationship Id="rId16" Type="http://schemas.openxmlformats.org/officeDocument/2006/relationships/oleObject" Target="../embeddings/oleObject49.bin"/><Relationship Id="rId15" Type="http://schemas.openxmlformats.org/officeDocument/2006/relationships/image" Target="../media/image12.wmf"/><Relationship Id="rId14" Type="http://schemas.openxmlformats.org/officeDocument/2006/relationships/oleObject" Target="../embeddings/oleObject48.bin"/><Relationship Id="rId13" Type="http://schemas.openxmlformats.org/officeDocument/2006/relationships/image" Target="../media/image11.wmf"/><Relationship Id="rId12" Type="http://schemas.openxmlformats.org/officeDocument/2006/relationships/oleObject" Target="../embeddings/oleObject47.bin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10.wmf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oleObject" Target="../embeddings/oleObject61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60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9.bin"/><Relationship Id="rId31" Type="http://schemas.openxmlformats.org/officeDocument/2006/relationships/vmlDrawing" Target="../drawings/vmlDrawing7.vml"/><Relationship Id="rId30" Type="http://schemas.openxmlformats.org/officeDocument/2006/relationships/slideLayout" Target="../slideLayouts/slideLayout5.xml"/><Relationship Id="rId3" Type="http://schemas.openxmlformats.org/officeDocument/2006/relationships/image" Target="../media/image7.wmf"/><Relationship Id="rId29" Type="http://schemas.openxmlformats.org/officeDocument/2006/relationships/tags" Target="../tags/tag12.xml"/><Relationship Id="rId28" Type="http://schemas.openxmlformats.org/officeDocument/2006/relationships/oleObject" Target="../embeddings/oleObject74.bin"/><Relationship Id="rId27" Type="http://schemas.openxmlformats.org/officeDocument/2006/relationships/oleObject" Target="../embeddings/oleObject73.bin"/><Relationship Id="rId26" Type="http://schemas.openxmlformats.org/officeDocument/2006/relationships/oleObject" Target="../embeddings/oleObject72.bin"/><Relationship Id="rId25" Type="http://schemas.openxmlformats.org/officeDocument/2006/relationships/image" Target="../media/image14.wmf"/><Relationship Id="rId24" Type="http://schemas.openxmlformats.org/officeDocument/2006/relationships/oleObject" Target="../embeddings/oleObject71.bin"/><Relationship Id="rId23" Type="http://schemas.openxmlformats.org/officeDocument/2006/relationships/oleObject" Target="../embeddings/oleObject70.bin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69.bin"/><Relationship Id="rId20" Type="http://schemas.openxmlformats.org/officeDocument/2006/relationships/image" Target="../media/image18.wmf"/><Relationship Id="rId2" Type="http://schemas.openxmlformats.org/officeDocument/2006/relationships/oleObject" Target="../embeddings/oleObject58.bin"/><Relationship Id="rId19" Type="http://schemas.openxmlformats.org/officeDocument/2006/relationships/oleObject" Target="../embeddings/oleObject68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67.bin"/><Relationship Id="rId16" Type="http://schemas.openxmlformats.org/officeDocument/2006/relationships/oleObject" Target="../embeddings/oleObject66.bin"/><Relationship Id="rId15" Type="http://schemas.openxmlformats.org/officeDocument/2006/relationships/image" Target="../media/image12.wmf"/><Relationship Id="rId14" Type="http://schemas.openxmlformats.org/officeDocument/2006/relationships/oleObject" Target="../embeddings/oleObject65.bin"/><Relationship Id="rId13" Type="http://schemas.openxmlformats.org/officeDocument/2006/relationships/image" Target="../media/image11.wmf"/><Relationship Id="rId12" Type="http://schemas.openxmlformats.org/officeDocument/2006/relationships/oleObject" Target="../embeddings/oleObject64.bin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10.wmf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5.xml"/><Relationship Id="rId3" Type="http://schemas.openxmlformats.org/officeDocument/2006/relationships/image" Target="../media/image22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75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6.xml"/><Relationship Id="rId3" Type="http://schemas.openxmlformats.org/officeDocument/2006/relationships/image" Target="../media/image22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76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7.xml"/><Relationship Id="rId3" Type="http://schemas.openxmlformats.org/officeDocument/2006/relationships/image" Target="../media/image22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7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27685" y="99695"/>
            <a:ext cx="7148830" cy="6509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76515" y="99695"/>
            <a:ext cx="4320540" cy="6508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方案一：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(1)ADC</a:t>
            </a:r>
            <a:r>
              <a:rPr lang="zh-CN" altLang="en-US">
                <a:solidFill>
                  <a:schemeClr val="tx1"/>
                </a:solidFill>
              </a:rPr>
              <a:t>采样信号，使用快速傅里叶变换，求出信号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和信号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的频率。系统内部自己生成幅度和频率相同的正弦波三角波信号，通过</a:t>
            </a:r>
            <a:r>
              <a:rPr lang="en-US" altLang="zh-CN">
                <a:solidFill>
                  <a:schemeClr val="tx1"/>
                </a:solidFill>
              </a:rPr>
              <a:t>DAC</a:t>
            </a:r>
            <a:r>
              <a:rPr lang="zh-CN" altLang="en-US">
                <a:solidFill>
                  <a:schemeClr val="tx1"/>
                </a:solidFill>
              </a:rPr>
              <a:t>输出。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实数信号的FFT结果具有共轭对称性，因此只需保留前N/2+1个频谱点（N为采样点数）。频谱分辨率由采样点数N和采样频率Fs决定，公式为Δf = Fs/N，增加N可提高分辨率。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正弦波对应频率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三角波奇次谐波，对应幅值为</a:t>
            </a:r>
            <a:r>
              <a:rPr lang="en-US" altLang="zh-CN">
                <a:solidFill>
                  <a:schemeClr val="accent1"/>
                </a:solidFill>
              </a:rPr>
              <a:t>1/n²</a:t>
            </a:r>
            <a:endParaRPr lang="en-US" altLang="zh-CN">
              <a:solidFill>
                <a:schemeClr val="accent1"/>
              </a:solidFill>
            </a:endParaRPr>
          </a:p>
          <a:p>
            <a:pPr algn="l"/>
            <a:endParaRPr lang="en-US" altLang="zh-CN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以下正弦波和三角波</a:t>
            </a:r>
            <a:r>
              <a:rPr lang="en-US" altLang="zh-CN">
                <a:solidFill>
                  <a:schemeClr val="accent1"/>
                </a:solidFill>
              </a:rPr>
              <a:t>FFT</a:t>
            </a:r>
            <a:r>
              <a:rPr lang="zh-CN" altLang="en-US">
                <a:solidFill>
                  <a:schemeClr val="accent1"/>
                </a:solidFill>
              </a:rPr>
              <a:t>频谱公式来自</a:t>
            </a:r>
            <a:r>
              <a:rPr lang="en-US" altLang="zh-CN">
                <a:solidFill>
                  <a:schemeClr val="accent1"/>
                </a:solidFill>
              </a:rPr>
              <a:t>AI</a:t>
            </a:r>
            <a:r>
              <a:rPr lang="zh-CN" altLang="en-US">
                <a:solidFill>
                  <a:schemeClr val="accent1"/>
                </a:solidFill>
              </a:rPr>
              <a:t>，因为我没找到其它好资料。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en-US" altLang="zh-CN">
              <a:solidFill>
                <a:schemeClr val="accent1"/>
              </a:solidFill>
            </a:endParaRPr>
          </a:p>
          <a:p>
            <a:pPr algn="l"/>
            <a:endParaRPr lang="en-US" altLang="zh-CN">
              <a:solidFill>
                <a:schemeClr val="accent1"/>
              </a:solidFill>
            </a:endParaRPr>
          </a:p>
          <a:p>
            <a:pPr algn="l"/>
            <a:endParaRPr lang="en-US" altLang="zh-CN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648335"/>
            <a:ext cx="5915025" cy="31115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572135" y="4328160"/>
            <a:ext cx="6936740" cy="978535"/>
            <a:chOff x="964" y="6172"/>
            <a:chExt cx="10924" cy="1541"/>
          </a:xfrm>
        </p:grpSpPr>
        <p:sp>
          <p:nvSpPr>
            <p:cNvPr id="20" name="矩形 19"/>
            <p:cNvSpPr/>
            <p:nvPr/>
          </p:nvSpPr>
          <p:spPr>
            <a:xfrm>
              <a:off x="964" y="6172"/>
              <a:ext cx="10924" cy="1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>
                  <a:solidFill>
                    <a:schemeClr val="tx1"/>
                  </a:solidFill>
                </a:rPr>
                <a:t>(2)    </a:t>
              </a:r>
              <a:r>
                <a:rPr>
                  <a:solidFill>
                    <a:schemeClr val="tx1"/>
                  </a:solidFill>
                </a:rPr>
                <a:t>是   的整数倍。要求装置能设置并控制信号B’与A’的初相位差，范围0°~180°，设置分辨率5°，</a:t>
              </a:r>
              <a:endParaRPr>
                <a:solidFill>
                  <a:schemeClr val="tx1"/>
                </a:solidFill>
              </a:endParaRPr>
            </a:p>
            <a:p>
              <a:pPr algn="l"/>
              <a:endParaRPr>
                <a:solidFill>
                  <a:schemeClr val="tx1"/>
                </a:solidFill>
              </a:endParaRPr>
            </a:p>
          </p:txBody>
        </p:sp>
        <p:graphicFrame>
          <p:nvGraphicFramePr>
            <p:cNvPr id="21" name="对象 2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37" y="6275"/>
            <a:ext cx="337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2" imgW="165100" imgH="215900" progId="Equation.KSEE3">
                    <p:embed/>
                  </p:oleObj>
                </mc:Choice>
                <mc:Fallback>
                  <p:oleObj name="" r:id="rId2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37" y="6275"/>
                          <a:ext cx="337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177" y="6274"/>
            <a:ext cx="342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" r:id="rId4" imgW="177165" imgH="215900" progId="Equation.KSEE3">
                    <p:embed/>
                  </p:oleObj>
                </mc:Choice>
                <mc:Fallback>
                  <p:oleObj name="" r:id="rId4" imgW="177165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77" y="6274"/>
                          <a:ext cx="342" cy="4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/>
          <p:cNvSpPr txBox="1"/>
          <p:nvPr/>
        </p:nvSpPr>
        <p:spPr>
          <a:xfrm>
            <a:off x="567690" y="3721100"/>
            <a:ext cx="6839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>
                <a:sym typeface="+mn-ea"/>
              </a:rPr>
              <a:t>(1) </a:t>
            </a:r>
            <a:r>
              <a:rPr>
                <a:sym typeface="+mn-ea"/>
              </a:rPr>
              <a:t>信号A和B</a:t>
            </a:r>
            <a:r>
              <a:rPr lang="zh-CN">
                <a:sym typeface="+mn-ea"/>
              </a:rPr>
              <a:t>可以</a:t>
            </a:r>
            <a:r>
              <a:rPr>
                <a:sym typeface="+mn-ea"/>
              </a:rPr>
              <a:t>为正弦波或三角波，频率为5kHz的整数倍。要求装置能正确分离出信号A’和B’</a:t>
            </a:r>
            <a:r>
              <a:rPr lang="zh-CN">
                <a:sym typeface="+mn-ea"/>
              </a:rPr>
              <a:t>，在示波器上稳定显示不漂移。</a:t>
            </a:r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857500" y="204470"/>
            <a:ext cx="2489835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信号分离</a:t>
            </a:r>
            <a:r>
              <a:rPr>
                <a:solidFill>
                  <a:schemeClr val="tx1"/>
                </a:solidFill>
              </a:rPr>
              <a:t>装置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" name="图片 1" descr="12876652-4a95-4cdf-b552-86fd79bd79e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7810" y="4657725"/>
            <a:ext cx="3067050" cy="704850"/>
          </a:xfrm>
          <a:prstGeom prst="rect">
            <a:avLst/>
          </a:prstGeom>
        </p:spPr>
      </p:pic>
      <p:pic>
        <p:nvPicPr>
          <p:cNvPr id="3" name="图片 2" descr="ba3c08e7-c65e-4667-9d01-72de5248a474"/>
          <p:cNvPicPr>
            <a:picLocks noChangeAspect="1"/>
          </p:cNvPicPr>
          <p:nvPr/>
        </p:nvPicPr>
        <p:blipFill>
          <a:blip r:embed="rId7"/>
          <a:srcRect l="47006" t="52829" b="5349"/>
          <a:stretch>
            <a:fillRect/>
          </a:stretch>
        </p:blipFill>
        <p:spPr>
          <a:xfrm>
            <a:off x="7877810" y="5769610"/>
            <a:ext cx="3568700" cy="68516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27685" y="99060"/>
            <a:ext cx="7148830" cy="6509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76515" y="99695"/>
            <a:ext cx="4320540" cy="6508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(2)</a:t>
            </a:r>
            <a:r>
              <a:rPr lang="zh-CN" altLang="en-US">
                <a:solidFill>
                  <a:schemeClr val="tx1"/>
                </a:solidFill>
              </a:rPr>
              <a:t>因为信号是通过系统内部自己生成的，也就是说信号的值是储存在</a:t>
            </a:r>
            <a:r>
              <a:rPr lang="en-US" altLang="zh-CN">
                <a:solidFill>
                  <a:schemeClr val="tx1"/>
                </a:solidFill>
              </a:rPr>
              <a:t>rom</a:t>
            </a:r>
            <a:r>
              <a:rPr lang="zh-CN" altLang="en-US">
                <a:solidFill>
                  <a:schemeClr val="tx1"/>
                </a:solidFill>
              </a:rPr>
              <a:t>里面，调制初相位差，只需要</a:t>
            </a:r>
            <a:r>
              <a:rPr lang="zh-CN" altLang="en-US">
                <a:solidFill>
                  <a:srgbClr val="FF0000"/>
                </a:solidFill>
              </a:rPr>
              <a:t>调整输出地址：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比如说</a:t>
            </a:r>
            <a:r>
              <a:rPr lang="en-US" altLang="zh-CN">
                <a:solidFill>
                  <a:schemeClr val="accent1"/>
                </a:solidFill>
              </a:rPr>
              <a:t>rom</a:t>
            </a:r>
            <a:r>
              <a:rPr lang="zh-CN" altLang="en-US">
                <a:solidFill>
                  <a:schemeClr val="accent1"/>
                </a:solidFill>
              </a:rPr>
              <a:t>里面一个周期存了</a:t>
            </a:r>
            <a:r>
              <a:rPr lang="en-US" altLang="zh-CN">
                <a:solidFill>
                  <a:schemeClr val="accent1"/>
                </a:solidFill>
              </a:rPr>
              <a:t>180</a:t>
            </a:r>
            <a:r>
              <a:rPr lang="zh-CN" altLang="en-US">
                <a:solidFill>
                  <a:schemeClr val="accent1"/>
                </a:solidFill>
              </a:rPr>
              <a:t>个值，那么显示信号就是从第一个地址一直读到第</a:t>
            </a:r>
            <a:r>
              <a:rPr lang="en-US" altLang="zh-CN">
                <a:solidFill>
                  <a:schemeClr val="accent1"/>
                </a:solidFill>
              </a:rPr>
              <a:t>180</a:t>
            </a:r>
            <a:r>
              <a:rPr lang="zh-CN" altLang="en-US">
                <a:solidFill>
                  <a:schemeClr val="accent1"/>
                </a:solidFill>
              </a:rPr>
              <a:t>个地址，然后再回到第一个地址重复，如果不是从第一个地址开始读，而是从第</a:t>
            </a:r>
            <a:r>
              <a:rPr lang="en-US" altLang="zh-CN">
                <a:solidFill>
                  <a:schemeClr val="accent1"/>
                </a:solidFill>
              </a:rPr>
              <a:t>90</a:t>
            </a:r>
            <a:r>
              <a:rPr lang="zh-CN" altLang="en-US">
                <a:solidFill>
                  <a:schemeClr val="accent1"/>
                </a:solidFill>
              </a:rPr>
              <a:t>个地址开始读，就等于初始相位为</a:t>
            </a:r>
            <a:r>
              <a:rPr lang="en-US" altLang="zh-CN">
                <a:solidFill>
                  <a:schemeClr val="accent1"/>
                </a:solidFill>
              </a:rPr>
              <a:t>180</a:t>
            </a:r>
            <a:r>
              <a:rPr lang="zh-CN" altLang="en-US">
                <a:solidFill>
                  <a:schemeClr val="accent1"/>
                </a:solidFill>
              </a:rPr>
              <a:t>°。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所以设置分辨率</a:t>
            </a:r>
            <a:r>
              <a:rPr lang="en-US" altLang="zh-CN">
                <a:solidFill>
                  <a:schemeClr val="tx1"/>
                </a:solidFill>
              </a:rPr>
              <a:t>5</a:t>
            </a:r>
            <a:r>
              <a:rPr lang="zh-CN" altLang="en-US">
                <a:solidFill>
                  <a:schemeClr val="tx1"/>
                </a:solidFill>
              </a:rPr>
              <a:t>°，相当于一个周期</a:t>
            </a:r>
            <a:r>
              <a:rPr lang="en-US" altLang="zh-CN">
                <a:solidFill>
                  <a:schemeClr val="tx1"/>
                </a:solidFill>
              </a:rPr>
              <a:t>360</a:t>
            </a:r>
            <a:r>
              <a:rPr lang="zh-CN" altLang="en-US">
                <a:solidFill>
                  <a:schemeClr val="tx1"/>
                </a:solidFill>
              </a:rPr>
              <a:t>°的</a:t>
            </a:r>
            <a:r>
              <a:rPr lang="en-US" altLang="zh-CN">
                <a:solidFill>
                  <a:schemeClr val="tx1"/>
                </a:solidFill>
              </a:rPr>
              <a:t>1/72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rgbClr val="FF0000"/>
                </a:solidFill>
              </a:rPr>
              <a:t>只需要跳跃</a:t>
            </a:r>
            <a:r>
              <a:rPr lang="en-US" altLang="zh-CN">
                <a:solidFill>
                  <a:srgbClr val="FF0000"/>
                </a:solidFill>
              </a:rPr>
              <a:t>rom</a:t>
            </a:r>
            <a:r>
              <a:rPr lang="zh-CN" altLang="en-US">
                <a:solidFill>
                  <a:srgbClr val="FF0000"/>
                </a:solidFill>
              </a:rPr>
              <a:t>里面一个周期的地址数量的</a:t>
            </a:r>
            <a:r>
              <a:rPr lang="en-US" altLang="zh-CN">
                <a:solidFill>
                  <a:srgbClr val="FF0000"/>
                </a:solidFill>
              </a:rPr>
              <a:t>1/72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>
                <a:solidFill>
                  <a:schemeClr val="accent1"/>
                </a:solidFill>
              </a:rPr>
              <a:t>这个时候如果不能被</a:t>
            </a:r>
            <a:r>
              <a:rPr lang="en-US" altLang="zh-CN">
                <a:solidFill>
                  <a:schemeClr val="accent1"/>
                </a:solidFill>
              </a:rPr>
              <a:t>72</a:t>
            </a:r>
            <a:r>
              <a:rPr lang="zh-CN" altLang="en-US">
                <a:solidFill>
                  <a:schemeClr val="accent1"/>
                </a:solidFill>
              </a:rPr>
              <a:t>整除，就会有误差。减小误差方法可以是增大</a:t>
            </a:r>
            <a:r>
              <a:rPr lang="en-US" altLang="zh-CN">
                <a:solidFill>
                  <a:schemeClr val="accent1"/>
                </a:solidFill>
              </a:rPr>
              <a:t>rom</a:t>
            </a:r>
            <a:r>
              <a:rPr lang="zh-CN" altLang="en-US">
                <a:solidFill>
                  <a:schemeClr val="accent1"/>
                </a:solidFill>
              </a:rPr>
              <a:t>地址数，或者弄个变量来累计误差进行补偿。</a:t>
            </a:r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648335"/>
            <a:ext cx="5915025" cy="31115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572135" y="4328160"/>
            <a:ext cx="6936740" cy="978535"/>
            <a:chOff x="964" y="6172"/>
            <a:chExt cx="10924" cy="1541"/>
          </a:xfrm>
        </p:grpSpPr>
        <p:sp>
          <p:nvSpPr>
            <p:cNvPr id="20" name="矩形 19"/>
            <p:cNvSpPr/>
            <p:nvPr/>
          </p:nvSpPr>
          <p:spPr>
            <a:xfrm>
              <a:off x="964" y="6172"/>
              <a:ext cx="10924" cy="1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>
                  <a:solidFill>
                    <a:schemeClr val="tx1"/>
                  </a:solidFill>
                </a:rPr>
                <a:t>(2)    </a:t>
              </a:r>
              <a:r>
                <a:rPr>
                  <a:solidFill>
                    <a:schemeClr val="tx1"/>
                  </a:solidFill>
                </a:rPr>
                <a:t>是   的整数倍。要求装置能设置并控制信号B’与A’的初相位差，范围0°~180°，设置分辨率5°，</a:t>
              </a:r>
              <a:endParaRPr>
                <a:solidFill>
                  <a:schemeClr val="tx1"/>
                </a:solidFill>
              </a:endParaRPr>
            </a:p>
            <a:p>
              <a:pPr algn="l"/>
              <a:endParaRPr>
                <a:solidFill>
                  <a:schemeClr val="tx1"/>
                </a:solidFill>
              </a:endParaRPr>
            </a:p>
          </p:txBody>
        </p:sp>
        <p:graphicFrame>
          <p:nvGraphicFramePr>
            <p:cNvPr id="21" name="对象 2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37" y="6275"/>
            <a:ext cx="337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2" imgW="165100" imgH="215900" progId="Equation.KSEE3">
                    <p:embed/>
                  </p:oleObj>
                </mc:Choice>
                <mc:Fallback>
                  <p:oleObj name="" r:id="rId2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37" y="6275"/>
                          <a:ext cx="337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177" y="6274"/>
            <a:ext cx="342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" r:id="rId4" imgW="177165" imgH="215900" progId="Equation.KSEE3">
                    <p:embed/>
                  </p:oleObj>
                </mc:Choice>
                <mc:Fallback>
                  <p:oleObj name="" r:id="rId4" imgW="177165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77" y="6274"/>
                          <a:ext cx="342" cy="4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/>
          <p:cNvSpPr txBox="1"/>
          <p:nvPr/>
        </p:nvSpPr>
        <p:spPr>
          <a:xfrm>
            <a:off x="567690" y="3721100"/>
            <a:ext cx="6839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>
                <a:sym typeface="+mn-ea"/>
              </a:rPr>
              <a:t>(1) </a:t>
            </a:r>
            <a:r>
              <a:rPr>
                <a:sym typeface="+mn-ea"/>
              </a:rPr>
              <a:t>信号A和B</a:t>
            </a:r>
            <a:r>
              <a:rPr lang="zh-CN">
                <a:sym typeface="+mn-ea"/>
              </a:rPr>
              <a:t>可以</a:t>
            </a:r>
            <a:r>
              <a:rPr>
                <a:sym typeface="+mn-ea"/>
              </a:rPr>
              <a:t>为正弦波或三角波，频率为5kHz的整数倍。要求装置能正确分离出信号A’和B’</a:t>
            </a:r>
            <a:r>
              <a:rPr lang="zh-CN">
                <a:sym typeface="+mn-ea"/>
              </a:rPr>
              <a:t>，在示波器上稳定显示不漂移。</a:t>
            </a:r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857500" y="204470"/>
            <a:ext cx="2489835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信号分离</a:t>
            </a:r>
            <a:r>
              <a:rPr>
                <a:solidFill>
                  <a:schemeClr val="tx1"/>
                </a:solidFill>
              </a:rPr>
              <a:t>装置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27685" y="99060"/>
            <a:ext cx="7148830" cy="6509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76515" y="99695"/>
            <a:ext cx="4320540" cy="6508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注意：</a:t>
            </a:r>
            <a:r>
              <a:rPr lang="zh-CN" altLang="en-US">
                <a:solidFill>
                  <a:schemeClr val="accent1"/>
                </a:solidFill>
              </a:rPr>
              <a:t>在示波器显示而不漂移的方法就是时钟同步，你拿两台精确的信号发生器，一个输出</a:t>
            </a:r>
            <a:r>
              <a:rPr lang="en-US" altLang="zh-CN">
                <a:solidFill>
                  <a:schemeClr val="accent1"/>
                </a:solidFill>
              </a:rPr>
              <a:t>5kHz</a:t>
            </a:r>
            <a:r>
              <a:rPr lang="zh-CN" altLang="en-US">
                <a:solidFill>
                  <a:schemeClr val="accent1"/>
                </a:solidFill>
              </a:rPr>
              <a:t>，一个输出</a:t>
            </a:r>
            <a:r>
              <a:rPr lang="en-US" altLang="zh-CN">
                <a:solidFill>
                  <a:schemeClr val="accent1"/>
                </a:solidFill>
              </a:rPr>
              <a:t>10kHz</a:t>
            </a:r>
            <a:r>
              <a:rPr lang="zh-CN" altLang="en-US">
                <a:solidFill>
                  <a:schemeClr val="accent1"/>
                </a:solidFill>
              </a:rPr>
              <a:t>，他们还是会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漂移</a:t>
            </a:r>
            <a:r>
              <a:rPr lang="zh-CN" altLang="en-US">
                <a:solidFill>
                  <a:schemeClr val="accent1"/>
                </a:solidFill>
              </a:rPr>
              <a:t>，因为时钟不一样，弄个时钟同步就可以了。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如果频率不是整数倍，那就没办法肯定会漂移。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仿真：使用</a:t>
            </a:r>
            <a:r>
              <a:rPr lang="en-US" altLang="zh-CN">
                <a:solidFill>
                  <a:schemeClr val="accent1"/>
                </a:solidFill>
              </a:rPr>
              <a:t>matlab</a:t>
            </a:r>
            <a:r>
              <a:rPr lang="zh-CN" altLang="en-US">
                <a:solidFill>
                  <a:schemeClr val="accent1"/>
                </a:solidFill>
              </a:rPr>
              <a:t>生成仿真数据，然后写仿真代码，看波形图，确认逻辑。</a:t>
            </a:r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648335"/>
            <a:ext cx="5915025" cy="31115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572135" y="4328160"/>
            <a:ext cx="6936740" cy="978535"/>
            <a:chOff x="964" y="6172"/>
            <a:chExt cx="10924" cy="1541"/>
          </a:xfrm>
        </p:grpSpPr>
        <p:sp>
          <p:nvSpPr>
            <p:cNvPr id="20" name="矩形 19"/>
            <p:cNvSpPr/>
            <p:nvPr/>
          </p:nvSpPr>
          <p:spPr>
            <a:xfrm>
              <a:off x="964" y="6172"/>
              <a:ext cx="10924" cy="1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>
                  <a:solidFill>
                    <a:schemeClr val="tx1"/>
                  </a:solidFill>
                </a:rPr>
                <a:t>(2)    </a:t>
              </a:r>
              <a:r>
                <a:rPr>
                  <a:solidFill>
                    <a:schemeClr val="tx1"/>
                  </a:solidFill>
                </a:rPr>
                <a:t>是   的整数倍。装置能设置并控制信号B’与A’的初相位差，范围0°~180°，设置分辨率5°，</a:t>
              </a:r>
              <a:endParaRPr>
                <a:solidFill>
                  <a:schemeClr val="tx1"/>
                </a:solidFill>
              </a:endParaRPr>
            </a:p>
            <a:p>
              <a:pPr algn="l"/>
              <a:endParaRPr>
                <a:solidFill>
                  <a:schemeClr val="tx1"/>
                </a:solidFill>
              </a:endParaRPr>
            </a:p>
          </p:txBody>
        </p:sp>
        <p:graphicFrame>
          <p:nvGraphicFramePr>
            <p:cNvPr id="21" name="对象 2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37" y="6275"/>
            <a:ext cx="337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2" imgW="165100" imgH="215900" progId="Equation.KSEE3">
                    <p:embed/>
                  </p:oleObj>
                </mc:Choice>
                <mc:Fallback>
                  <p:oleObj name="" r:id="rId2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37" y="6275"/>
                          <a:ext cx="337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2177" y="6274"/>
            <a:ext cx="342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" r:id="rId4" imgW="177165" imgH="215900" progId="Equation.KSEE3">
                    <p:embed/>
                  </p:oleObj>
                </mc:Choice>
                <mc:Fallback>
                  <p:oleObj name="" r:id="rId4" imgW="177165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77" y="6274"/>
                          <a:ext cx="342" cy="4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/>
          <p:cNvSpPr txBox="1"/>
          <p:nvPr/>
        </p:nvSpPr>
        <p:spPr>
          <a:xfrm>
            <a:off x="567690" y="3721100"/>
            <a:ext cx="6839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>
                <a:sym typeface="+mn-ea"/>
              </a:rPr>
              <a:t>(1) </a:t>
            </a:r>
            <a:r>
              <a:rPr>
                <a:sym typeface="+mn-ea"/>
              </a:rPr>
              <a:t>信号A和B</a:t>
            </a:r>
            <a:r>
              <a:rPr lang="zh-CN">
                <a:sym typeface="+mn-ea"/>
              </a:rPr>
              <a:t>可以</a:t>
            </a:r>
            <a:r>
              <a:rPr>
                <a:sym typeface="+mn-ea"/>
              </a:rPr>
              <a:t>为正弦波或三角波，频率为5kHz的整数倍。装置能正确分离出信号A’和B’</a:t>
            </a:r>
            <a:r>
              <a:rPr lang="zh-CN">
                <a:sym typeface="+mn-ea"/>
              </a:rPr>
              <a:t>，在示波器上稳定显示不漂移。</a:t>
            </a:r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857500" y="204470"/>
            <a:ext cx="2489835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信号分离</a:t>
            </a:r>
            <a:r>
              <a:rPr>
                <a:solidFill>
                  <a:schemeClr val="tx1"/>
                </a:solidFill>
              </a:rPr>
              <a:t>装置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方案一：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(1) AM</a:t>
            </a:r>
            <a:r>
              <a:rPr lang="zh-CN" altLang="en-US">
                <a:solidFill>
                  <a:schemeClr val="tx1"/>
                </a:solidFill>
              </a:rPr>
              <a:t>信号在载波频点</a:t>
            </a:r>
            <a:r>
              <a:rPr lang="en-US" altLang="zh-CN">
                <a:solidFill>
                  <a:schemeClr val="tx1"/>
                </a:solidFill>
              </a:rPr>
              <a:t>fc</a:t>
            </a:r>
            <a:r>
              <a:rPr lang="zh-CN" altLang="en-US">
                <a:solidFill>
                  <a:schemeClr val="tx1"/>
                </a:solidFill>
              </a:rPr>
              <a:t>有峰值，在相邻调制信号频率</a:t>
            </a:r>
            <a:r>
              <a:rPr lang="en-US" altLang="zh-CN">
                <a:solidFill>
                  <a:schemeClr val="tx1"/>
                </a:solidFill>
              </a:rPr>
              <a:t>fc</a:t>
            </a:r>
            <a:r>
              <a:rPr lang="zh-CN" altLang="en-US">
                <a:solidFill>
                  <a:schemeClr val="tx1"/>
                </a:solidFill>
              </a:rPr>
              <a:t>±</a:t>
            </a:r>
            <a:r>
              <a:rPr lang="en-US" altLang="zh-CN">
                <a:solidFill>
                  <a:schemeClr val="tx1"/>
                </a:solidFill>
              </a:rPr>
              <a:t>fm</a:t>
            </a:r>
            <a:r>
              <a:rPr lang="zh-CN" altLang="en-US">
                <a:solidFill>
                  <a:schemeClr val="tx1"/>
                </a:solidFill>
              </a:rPr>
              <a:t>有峰值，峰值对比可得调制指数。判定方法为两个边带信号强度超过阈值，且位置对称。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而</a:t>
            </a:r>
            <a:r>
              <a:rPr lang="en-US" altLang="zh-CN">
                <a:solidFill>
                  <a:schemeClr val="tx1"/>
                </a:solidFill>
              </a:rPr>
              <a:t>FM</a:t>
            </a:r>
            <a:r>
              <a:rPr lang="zh-CN" altLang="en-US">
                <a:solidFill>
                  <a:schemeClr val="tx1"/>
                </a:solidFill>
              </a:rPr>
              <a:t>信号理论上有无限多边带，相邻峰值先增大后减小，判定方法就用有多边带，主峰远大于</a:t>
            </a:r>
            <a:r>
              <a:rPr lang="en-US" altLang="zh-CN">
                <a:solidFill>
                  <a:schemeClr val="tx1"/>
                </a:solidFill>
              </a:rPr>
              <a:t>8</a:t>
            </a:r>
            <a:r>
              <a:rPr lang="zh-CN" altLang="en-US">
                <a:solidFill>
                  <a:schemeClr val="tx1"/>
                </a:solidFill>
              </a:rPr>
              <a:t>倍边带。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AM</a:t>
            </a:r>
            <a:r>
              <a:rPr lang="zh-CN" altLang="en-US">
                <a:solidFill>
                  <a:schemeClr val="tx1"/>
                </a:solidFill>
              </a:rPr>
              <a:t>信号解调：中心化+整流，低通滤波之后即可得到。滤波器用</a:t>
            </a:r>
            <a:r>
              <a:rPr lang="en-US" altLang="zh-CN">
                <a:solidFill>
                  <a:schemeClr val="tx1"/>
                </a:solidFill>
              </a:rPr>
              <a:t>matlab</a:t>
            </a:r>
            <a:r>
              <a:rPr lang="zh-CN" altLang="en-US">
                <a:solidFill>
                  <a:schemeClr val="tx1"/>
                </a:solidFill>
              </a:rPr>
              <a:t>生成。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原理：（1+cos</a:t>
            </a:r>
            <a:r>
              <a:rPr lang="en-US" altLang="zh-CN">
                <a:solidFill>
                  <a:schemeClr val="tx1"/>
                </a:solidFill>
              </a:rPr>
              <a:t>fm</a:t>
            </a:r>
            <a:r>
              <a:rPr lang="zh-CN" altLang="en-US">
                <a:solidFill>
                  <a:schemeClr val="tx1"/>
                </a:solidFill>
              </a:rPr>
              <a:t>t）cos</a:t>
            </a:r>
            <a:r>
              <a:rPr lang="en-US" altLang="zh-CN">
                <a:solidFill>
                  <a:schemeClr val="tx1"/>
                </a:solidFill>
              </a:rPr>
              <a:t>fc</a:t>
            </a:r>
            <a:r>
              <a:rPr lang="zh-CN" altLang="en-US">
                <a:solidFill>
                  <a:schemeClr val="tx1"/>
                </a:solidFill>
              </a:rPr>
              <a:t>t全波整流后得到（1+cos</a:t>
            </a:r>
            <a:r>
              <a:rPr lang="en-US" altLang="zh-CN">
                <a:solidFill>
                  <a:schemeClr val="tx1"/>
                </a:solidFill>
              </a:rPr>
              <a:t>fm</a:t>
            </a:r>
            <a:r>
              <a:rPr lang="zh-CN" altLang="en-US">
                <a:solidFill>
                  <a:schemeClr val="tx1"/>
                </a:solidFill>
              </a:rPr>
              <a:t>t）|cos</a:t>
            </a:r>
            <a:r>
              <a:rPr lang="en-US" altLang="zh-CN">
                <a:solidFill>
                  <a:schemeClr val="tx1"/>
                </a:solidFill>
              </a:rPr>
              <a:t>f</a:t>
            </a:r>
            <a:r>
              <a:rPr lang="zh-CN" altLang="en-US">
                <a:solidFill>
                  <a:schemeClr val="tx1"/>
                </a:solidFill>
              </a:rPr>
              <a:t>ct|，|cos</a:t>
            </a:r>
            <a:r>
              <a:rPr lang="en-US" altLang="zh-CN">
                <a:solidFill>
                  <a:schemeClr val="tx1"/>
                </a:solidFill>
              </a:rPr>
              <a:t>f</a:t>
            </a:r>
            <a:r>
              <a:rPr lang="zh-CN" altLang="en-US">
                <a:solidFill>
                  <a:schemeClr val="tx1"/>
                </a:solidFill>
              </a:rPr>
              <a:t>ct|的傅里叶级数展开后有一个常数项2/pi，然后加上后面的一大坨，低通滤波即可得到解调信号。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调制系数：</a:t>
            </a:r>
            <a:r>
              <a:rPr lang="en-US" altLang="zh-CN">
                <a:solidFill>
                  <a:schemeClr val="tx1"/>
                </a:solidFill>
              </a:rPr>
              <a:t>(Amax-Amin)/(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Amax+Amin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3212" t="20492" r="4399"/>
          <a:stretch>
            <a:fillRect/>
          </a:stretch>
        </p:blipFill>
        <p:spPr>
          <a:xfrm>
            <a:off x="429260" y="403860"/>
            <a:ext cx="7268845" cy="112839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77520" y="1585595"/>
            <a:ext cx="715581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信号发生器输出可能为AM、FM或连续载波（CW）三种信号，其载波电压峰峰值为100mV、载频    为2MHz</a:t>
            </a:r>
            <a:r>
              <a:rPr lang="zh-CN">
                <a:solidFill>
                  <a:schemeClr val="tx1"/>
                </a:solidFill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94335" y="2339975"/>
            <a:ext cx="68973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(1)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(2)</a:t>
            </a:r>
            <a:r>
              <a:rPr lang="zh-CN" altLang="en-US">
                <a:sym typeface="+mn-ea"/>
              </a:rPr>
              <a:t>若     为</a:t>
            </a:r>
            <a:r>
              <a:rPr lang="en-US" altLang="zh-CN">
                <a:sym typeface="+mn-ea"/>
              </a:rPr>
              <a:t>AM</a:t>
            </a:r>
            <a:r>
              <a:rPr lang="zh-CN" altLang="en-US">
                <a:sym typeface="+mn-ea"/>
              </a:rPr>
              <a:t>信号，估计并显示其正弦调制信号频率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，调频系数    ，输出解调信号     。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1640" y="4633595"/>
            <a:ext cx="68973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(3)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(4)</a:t>
            </a:r>
            <a:r>
              <a:rPr>
                <a:sym typeface="+mn-ea"/>
              </a:rPr>
              <a:t>估计并显示      传输的二进制码速率     ，在示波器上显示解调输出的二进制码序列波形</a:t>
            </a:r>
            <a:r>
              <a:rPr lang="en-US">
                <a:sym typeface="+mn-ea"/>
              </a:rPr>
              <a:t>.</a:t>
            </a:r>
            <a:r>
              <a:rPr lang="zh-CN" altLang="en-US">
                <a:sym typeface="+mn-ea"/>
              </a:rPr>
              <a:t>若为</a:t>
            </a: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FSK</a:t>
            </a:r>
            <a:r>
              <a:rPr lang="zh-CN" altLang="en-US">
                <a:sym typeface="+mn-ea"/>
              </a:rPr>
              <a:t>计算</a:t>
            </a:r>
            <a:r>
              <a:rPr lang="en-US" altLang="zh-CN">
                <a:sym typeface="+mn-ea"/>
              </a:rPr>
              <a:t>移频键控系数h，</a:t>
            </a:r>
            <a:endParaRPr lang="en-US" altLang="zh-CN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0705" y="3890010"/>
            <a:ext cx="7155815" cy="115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>
                <a:solidFill>
                  <a:schemeClr val="tx1"/>
                </a:solidFill>
              </a:rPr>
              <a:t>     </a:t>
            </a:r>
            <a:r>
              <a:rPr>
                <a:solidFill>
                  <a:schemeClr val="tx1"/>
                </a:solidFill>
              </a:rPr>
              <a:t>可为二进制幅度键控（2ASK）、移相键控（2PSK）或移频键控（2FSK）信号，码速率     可为6kbps、8kbps、10kbps中的一种</a:t>
            </a:r>
            <a:r>
              <a:rPr lang="zh-CN">
                <a:solidFill>
                  <a:schemeClr val="tx1"/>
                </a:solidFill>
              </a:rPr>
              <a:t>；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94380" y="1986915"/>
          <a:ext cx="2190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52400" imgH="228600" progId="Equation.KSEE3">
                  <p:embed/>
                </p:oleObj>
              </mc:Choice>
              <mc:Fallback>
                <p:oleObj name="" r:id="rId4" imgW="1524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4380" y="1986915"/>
                        <a:ext cx="2190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47335" y="233997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6" imgW="215900" imgH="215900" progId="Equation.KSEE3">
                  <p:embed/>
                </p:oleObj>
              </mc:Choice>
              <mc:Fallback>
                <p:oleObj name="" r:id="rId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7335" y="233997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60575" y="49911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8" imgW="215900" imgH="215900" progId="Equation.KSEE3">
                  <p:embed/>
                </p:oleObj>
              </mc:Choice>
              <mc:Fallback>
                <p:oleObj name="" r:id="rId8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0575" y="49911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89270" y="524510"/>
          <a:ext cx="289560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177165" imgH="228600" progId="Equation.KSEE3">
                  <p:embed/>
                </p:oleObj>
              </mc:Choice>
              <mc:Fallback>
                <p:oleObj name="" r:id="rId9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9270" y="524510"/>
                        <a:ext cx="289560" cy="373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6150" y="261810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11" imgW="215900" imgH="215900" progId="Equation.KSEE3">
                  <p:embed/>
                </p:oleObj>
              </mc:Choice>
              <mc:Fallback>
                <p:oleObj name="" r:id="rId1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6150" y="261810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7685" y="2651760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215900" imgH="228600" progId="Equation.KSEE3">
                  <p:embed/>
                </p:oleObj>
              </mc:Choice>
              <mc:Fallback>
                <p:oleObj name="" r:id="rId12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77685" y="2651760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8010" y="2896870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4" imgW="177165" imgH="228600" progId="Equation.KSEE3">
                  <p:embed/>
                </p:oleObj>
              </mc:Choice>
              <mc:Fallback>
                <p:oleObj name="" r:id="rId14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8010" y="2896870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394335" y="3173095"/>
            <a:ext cx="68433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ym typeface="+mn-ea"/>
              </a:rPr>
              <a:t>     若     为FM信号，估计并显示其正弦调制信号频率F、调频数     、最大频偏       ，输出解调信号    。</a:t>
            </a:r>
            <a:r>
              <a:rPr lang="en-US" altLang="zh-CN">
                <a:sym typeface="+mn-ea"/>
              </a:rPr>
              <a:t>	</a:t>
            </a:r>
            <a:endParaRPr lang="zh-CN" altLang="en-US"/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1730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6" imgW="215900" imgH="215900" progId="Equation.KSEE3">
                  <p:embed/>
                </p:oleObj>
              </mc:Choice>
              <mc:Fallback>
                <p:oleObj name="" r:id="rId1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9800" y="31730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55435" y="3173095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7" imgW="215900" imgH="228600" progId="Equation.KSEE3">
                  <p:embed/>
                </p:oleObj>
              </mc:Choice>
              <mc:Fallback>
                <p:oleObj name="" r:id="rId17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5435" y="3173095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34385" y="3453765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8" imgW="177165" imgH="228600" progId="Equation.KSEE3">
                  <p:embed/>
                </p:oleObj>
              </mc:Choice>
              <mc:Fallback>
                <p:oleObj name="" r:id="rId18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34385" y="3453765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81125" y="3460115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266700" imgH="228600" progId="Equation.KSEE3">
                  <p:embed/>
                </p:oleObj>
              </mc:Choice>
              <mc:Fallback>
                <p:oleObj name="" r:id="rId19" imgW="266700" imgH="2286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81125" y="3460115"/>
                        <a:ext cx="394335" cy="33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0870" y="398526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1" imgW="215900" imgH="215900" progId="Equation.KSEE3">
                  <p:embed/>
                </p:oleObj>
              </mc:Choice>
              <mc:Fallback>
                <p:oleObj name="" r:id="rId2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" y="398526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3700" y="4320540"/>
          <a:ext cx="263525" cy="29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2" imgW="203200" imgH="228600" progId="Equation.KSEE3">
                  <p:embed/>
                </p:oleObj>
              </mc:Choice>
              <mc:Fallback>
                <p:oleObj name="" r:id="rId22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33700" y="4320540"/>
                        <a:ext cx="263525" cy="296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9085" y="46335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24" imgW="215900" imgH="215900" progId="Equation.KSEE3">
                  <p:embed/>
                </p:oleObj>
              </mc:Choice>
              <mc:Fallback>
                <p:oleObj name="" r:id="rId24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9085" y="46335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8175" y="490474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5" imgW="215900" imgH="215900" progId="Equation.KSEE3">
                  <p:embed/>
                </p:oleObj>
              </mc:Choice>
              <mc:Fallback>
                <p:oleObj name="" r:id="rId25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8175" y="490474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69740" y="4945380"/>
          <a:ext cx="269875" cy="30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" r:id="rId26" imgW="203200" imgH="228600" progId="Equation.KSEE3">
                  <p:embed/>
                </p:oleObj>
              </mc:Choice>
              <mc:Fallback>
                <p:oleObj name="" r:id="rId26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69740" y="4945380"/>
                        <a:ext cx="269875" cy="303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(2) FM</a:t>
            </a:r>
            <a:r>
              <a:rPr lang="zh-CN" altLang="en-US">
                <a:solidFill>
                  <a:schemeClr val="tx1"/>
                </a:solidFill>
              </a:rPr>
              <a:t>信号解调：</a:t>
            </a:r>
            <a:r>
              <a:rPr>
                <a:solidFill>
                  <a:schemeClr val="tx1"/>
                </a:solidFill>
              </a:rPr>
              <a:t>数字正交解调</a:t>
            </a:r>
            <a:r>
              <a:rPr lang="zh-CN">
                <a:solidFill>
                  <a:schemeClr val="tx1"/>
                </a:solidFill>
              </a:rPr>
              <a:t>，通过DDS生成正交载波，与输入信号混频，低通滤波得到I/Q两路信号。差分</a:t>
            </a:r>
            <a:r>
              <a:rPr lang="en-US" altLang="zh-CN">
                <a:solidFill>
                  <a:schemeClr val="tx1"/>
                </a:solidFill>
              </a:rPr>
              <a:t>artan(Q/I)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3212" t="20492" r="4399"/>
          <a:stretch>
            <a:fillRect/>
          </a:stretch>
        </p:blipFill>
        <p:spPr>
          <a:xfrm>
            <a:off x="429260" y="403860"/>
            <a:ext cx="7204075" cy="111823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77520" y="1585595"/>
            <a:ext cx="715581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信号发生器输出可能为AM、FM或连续载波（CW）三种信号，其载波电压峰峰值为100mV、载频    为2MHz</a:t>
            </a:r>
            <a:r>
              <a:rPr lang="zh-CN">
                <a:solidFill>
                  <a:schemeClr val="tx1"/>
                </a:solidFill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94335" y="2339975"/>
            <a:ext cx="68973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(1)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(2)</a:t>
            </a:r>
            <a:r>
              <a:rPr lang="zh-CN" altLang="en-US">
                <a:sym typeface="+mn-ea"/>
              </a:rPr>
              <a:t>若     为</a:t>
            </a:r>
            <a:r>
              <a:rPr lang="en-US" altLang="zh-CN">
                <a:sym typeface="+mn-ea"/>
              </a:rPr>
              <a:t>AM</a:t>
            </a:r>
            <a:r>
              <a:rPr lang="zh-CN" altLang="en-US">
                <a:sym typeface="+mn-ea"/>
              </a:rPr>
              <a:t>信号，估计并显示其正弦调制信号频率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，调频系数    ，输出解调信号     。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1640" y="4633595"/>
            <a:ext cx="68973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(3)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(4)</a:t>
            </a:r>
            <a:r>
              <a:rPr>
                <a:sym typeface="+mn-ea"/>
              </a:rPr>
              <a:t>估计并显示      传输的二进制码速率     ，在示波器上显示解调输出的二进制码序列波形</a:t>
            </a:r>
            <a:r>
              <a:rPr lang="en-US">
                <a:sym typeface="+mn-ea"/>
              </a:rPr>
              <a:t>.</a:t>
            </a:r>
            <a:r>
              <a:rPr lang="zh-CN" altLang="en-US">
                <a:sym typeface="+mn-ea"/>
              </a:rPr>
              <a:t>若为</a:t>
            </a: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FSK</a:t>
            </a:r>
            <a:r>
              <a:rPr lang="zh-CN" altLang="en-US">
                <a:sym typeface="+mn-ea"/>
              </a:rPr>
              <a:t>计算</a:t>
            </a:r>
            <a:r>
              <a:rPr lang="en-US" altLang="zh-CN">
                <a:sym typeface="+mn-ea"/>
              </a:rPr>
              <a:t>移频键控系数h，</a:t>
            </a:r>
            <a:endParaRPr lang="en-US" altLang="zh-CN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0705" y="3890010"/>
            <a:ext cx="7155815" cy="115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>
                <a:solidFill>
                  <a:schemeClr val="tx1"/>
                </a:solidFill>
              </a:rPr>
              <a:t>     </a:t>
            </a:r>
            <a:r>
              <a:rPr>
                <a:solidFill>
                  <a:schemeClr val="tx1"/>
                </a:solidFill>
              </a:rPr>
              <a:t>可为二进制幅度键控（2ASK）、移相键控（2PSK）或移频键控（2FSK）信号，码速率     可为6kbps、8kbps、10kbps中的一种</a:t>
            </a:r>
            <a:r>
              <a:rPr lang="zh-CN">
                <a:solidFill>
                  <a:schemeClr val="tx1"/>
                </a:solidFill>
              </a:rPr>
              <a:t>；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94380" y="1986915"/>
          <a:ext cx="2190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52400" imgH="228600" progId="Equation.KSEE3">
                  <p:embed/>
                </p:oleObj>
              </mc:Choice>
              <mc:Fallback>
                <p:oleObj name="" r:id="rId4" imgW="1524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4380" y="1986915"/>
                        <a:ext cx="2190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47335" y="233997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6" imgW="215900" imgH="215900" progId="Equation.KSEE3">
                  <p:embed/>
                </p:oleObj>
              </mc:Choice>
              <mc:Fallback>
                <p:oleObj name="" r:id="rId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7335" y="233997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60575" y="49911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8" imgW="215900" imgH="215900" progId="Equation.KSEE3">
                  <p:embed/>
                </p:oleObj>
              </mc:Choice>
              <mc:Fallback>
                <p:oleObj name="" r:id="rId8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0575" y="49911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89270" y="524510"/>
          <a:ext cx="289560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177165" imgH="228600" progId="Equation.KSEE3">
                  <p:embed/>
                </p:oleObj>
              </mc:Choice>
              <mc:Fallback>
                <p:oleObj name="" r:id="rId9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9270" y="524510"/>
                        <a:ext cx="289560" cy="373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6150" y="261810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11" imgW="215900" imgH="215900" progId="Equation.KSEE3">
                  <p:embed/>
                </p:oleObj>
              </mc:Choice>
              <mc:Fallback>
                <p:oleObj name="" r:id="rId1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6150" y="261810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7685" y="2651760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215900" imgH="228600" progId="Equation.KSEE3">
                  <p:embed/>
                </p:oleObj>
              </mc:Choice>
              <mc:Fallback>
                <p:oleObj name="" r:id="rId12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77685" y="2651760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8010" y="2896870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4" imgW="177165" imgH="228600" progId="Equation.KSEE3">
                  <p:embed/>
                </p:oleObj>
              </mc:Choice>
              <mc:Fallback>
                <p:oleObj name="" r:id="rId14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8010" y="2896870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394335" y="3173095"/>
            <a:ext cx="68433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ym typeface="+mn-ea"/>
              </a:rPr>
              <a:t>     若     为FM信号，估计并显示其正弦调制信号频率F、调频数     、最大频偏       ，输出解调信号    。</a:t>
            </a:r>
            <a:r>
              <a:rPr lang="en-US" altLang="zh-CN">
                <a:sym typeface="+mn-ea"/>
              </a:rPr>
              <a:t>	</a:t>
            </a:r>
            <a:endParaRPr lang="zh-CN" altLang="en-US"/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1730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6" imgW="215900" imgH="215900" progId="Equation.KSEE3">
                  <p:embed/>
                </p:oleObj>
              </mc:Choice>
              <mc:Fallback>
                <p:oleObj name="" r:id="rId1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9800" y="31730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55435" y="3173095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7" imgW="215900" imgH="228600" progId="Equation.KSEE3">
                  <p:embed/>
                </p:oleObj>
              </mc:Choice>
              <mc:Fallback>
                <p:oleObj name="" r:id="rId17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5435" y="3173095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34385" y="3453765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8" imgW="177165" imgH="228600" progId="Equation.KSEE3">
                  <p:embed/>
                </p:oleObj>
              </mc:Choice>
              <mc:Fallback>
                <p:oleObj name="" r:id="rId18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34385" y="3453765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81125" y="3460115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266700" imgH="228600" progId="Equation.KSEE3">
                  <p:embed/>
                </p:oleObj>
              </mc:Choice>
              <mc:Fallback>
                <p:oleObj name="" r:id="rId19" imgW="266700" imgH="2286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81125" y="3460115"/>
                        <a:ext cx="394335" cy="33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0870" y="398526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1" imgW="215900" imgH="215900" progId="Equation.KSEE3">
                  <p:embed/>
                </p:oleObj>
              </mc:Choice>
              <mc:Fallback>
                <p:oleObj name="" r:id="rId2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" y="398526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3700" y="4320540"/>
          <a:ext cx="263525" cy="29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2" imgW="203200" imgH="228600" progId="Equation.KSEE3">
                  <p:embed/>
                </p:oleObj>
              </mc:Choice>
              <mc:Fallback>
                <p:oleObj name="" r:id="rId22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33700" y="4320540"/>
                        <a:ext cx="263525" cy="296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9085" y="46335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24" imgW="215900" imgH="215900" progId="Equation.KSEE3">
                  <p:embed/>
                </p:oleObj>
              </mc:Choice>
              <mc:Fallback>
                <p:oleObj name="" r:id="rId24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9085" y="46335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8175" y="490474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5" imgW="215900" imgH="215900" progId="Equation.KSEE3">
                  <p:embed/>
                </p:oleObj>
              </mc:Choice>
              <mc:Fallback>
                <p:oleObj name="" r:id="rId25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8175" y="490474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69740" y="4945380"/>
          <a:ext cx="269875" cy="30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" r:id="rId26" imgW="203200" imgH="228600" progId="Equation.KSEE3">
                  <p:embed/>
                </p:oleObj>
              </mc:Choice>
              <mc:Fallback>
                <p:oleObj name="" r:id="rId26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69740" y="4945380"/>
                        <a:ext cx="269875" cy="303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88910" y="1399540"/>
            <a:ext cx="4175125" cy="2818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51140" y="4399915"/>
            <a:ext cx="38849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ym typeface="+mn-ea"/>
              </a:rPr>
              <a:t>取最大值为最大频偏</a:t>
            </a:r>
            <a:r>
              <a:rPr lang="en-US" altLang="zh-CN">
                <a:sym typeface="+mn-ea"/>
              </a:rPr>
              <a:t>fmax</a:t>
            </a:r>
            <a:endParaRPr lang="en-US" altLang="zh-CN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调制系数等于</a:t>
            </a:r>
            <a:r>
              <a:rPr lang="zh-CN" altLang="en-US">
                <a:sym typeface="+mn-ea"/>
              </a:rPr>
              <a:t>最大频偏</a:t>
            </a:r>
            <a:r>
              <a:rPr lang="en-US" altLang="zh-CN">
                <a:sym typeface="+mn-ea"/>
              </a:rPr>
              <a:t>fmax/</a:t>
            </a:r>
            <a:r>
              <a:rPr lang="zh-CN" altLang="en-US">
                <a:sym typeface="+mn-ea"/>
              </a:rPr>
              <a:t>调制信号频率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</p:spTree>
    <p:custDataLst>
      <p:tags r:id="rId28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(3) </a:t>
            </a:r>
            <a:r>
              <a:rPr lang="en-US">
                <a:solidFill>
                  <a:schemeClr val="tx1"/>
                </a:solidFill>
              </a:rPr>
              <a:t>ASK</a:t>
            </a:r>
            <a:r>
              <a:rPr lang="zh-CN" altLang="en-US">
                <a:solidFill>
                  <a:schemeClr val="tx1"/>
                </a:solidFill>
              </a:rPr>
              <a:t>时域上会变到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FSK</a:t>
            </a:r>
            <a:r>
              <a:rPr lang="zh-CN" altLang="en-US">
                <a:solidFill>
                  <a:schemeClr val="tx1"/>
                </a:solidFill>
              </a:rPr>
              <a:t>是调频，所以频域上它会在两个主要频率上都很大，而</a:t>
            </a:r>
            <a:r>
              <a:rPr lang="en-US" altLang="zh-CN">
                <a:solidFill>
                  <a:schemeClr val="tx1"/>
                </a:solidFill>
              </a:rPr>
              <a:t>PSK</a:t>
            </a:r>
            <a:r>
              <a:rPr lang="zh-CN" altLang="en-US">
                <a:solidFill>
                  <a:schemeClr val="tx1"/>
                </a:solidFill>
              </a:rPr>
              <a:t>则集中在载波频率附近。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如果模拟数字一起识别：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模拟信号频域图比较疏松，峰值跟峰值之间相隔信号频率的间隔。而数字信号峰值周围会有很多根线，不像模拟那样直接变成几乎只有噪声，而是非常集中。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br>
              <a:rPr lang="zh-CN" altLang="en-US">
                <a:solidFill>
                  <a:schemeClr val="tx1"/>
                </a:solidFill>
              </a:rPr>
            </a:br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3212" t="20492" r="4399"/>
          <a:stretch>
            <a:fillRect/>
          </a:stretch>
        </p:blipFill>
        <p:spPr>
          <a:xfrm>
            <a:off x="429260" y="403860"/>
            <a:ext cx="7268845" cy="112839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77520" y="1585595"/>
            <a:ext cx="715581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信号发生器输出可能为AM、FM或连续载波（CW）三种信号，其载波电压峰峰值为100mV、载频    为2MHz</a:t>
            </a:r>
            <a:r>
              <a:rPr lang="zh-CN">
                <a:solidFill>
                  <a:schemeClr val="tx1"/>
                </a:solidFill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94335" y="2339975"/>
            <a:ext cx="68973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(1)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(2)</a:t>
            </a:r>
            <a:r>
              <a:rPr lang="zh-CN" altLang="en-US">
                <a:sym typeface="+mn-ea"/>
              </a:rPr>
              <a:t>若     为</a:t>
            </a:r>
            <a:r>
              <a:rPr lang="en-US" altLang="zh-CN">
                <a:sym typeface="+mn-ea"/>
              </a:rPr>
              <a:t>AM</a:t>
            </a:r>
            <a:r>
              <a:rPr lang="zh-CN" altLang="en-US">
                <a:sym typeface="+mn-ea"/>
              </a:rPr>
              <a:t>信号，估计并显示其正弦调制信号频率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，调频系数    ，输出解调信号     。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1640" y="4633595"/>
            <a:ext cx="68973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(3)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(4)</a:t>
            </a:r>
            <a:r>
              <a:rPr>
                <a:sym typeface="+mn-ea"/>
              </a:rPr>
              <a:t>估计并显示      传输的二进制码速率     ，在示波器上显示解调输出的二进制码序列波形</a:t>
            </a:r>
            <a:r>
              <a:rPr lang="en-US">
                <a:sym typeface="+mn-ea"/>
              </a:rPr>
              <a:t>.</a:t>
            </a:r>
            <a:r>
              <a:rPr lang="zh-CN" altLang="en-US">
                <a:sym typeface="+mn-ea"/>
              </a:rPr>
              <a:t>若为</a:t>
            </a: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FSK</a:t>
            </a:r>
            <a:r>
              <a:rPr lang="zh-CN" altLang="en-US">
                <a:sym typeface="+mn-ea"/>
              </a:rPr>
              <a:t>计算</a:t>
            </a:r>
            <a:r>
              <a:rPr lang="en-US" altLang="zh-CN">
                <a:sym typeface="+mn-ea"/>
              </a:rPr>
              <a:t>移频键控系数h，</a:t>
            </a:r>
            <a:endParaRPr lang="en-US" altLang="zh-CN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0705" y="3890010"/>
            <a:ext cx="7155815" cy="115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>
                <a:solidFill>
                  <a:schemeClr val="tx1"/>
                </a:solidFill>
              </a:rPr>
              <a:t>     </a:t>
            </a:r>
            <a:r>
              <a:rPr>
                <a:solidFill>
                  <a:schemeClr val="tx1"/>
                </a:solidFill>
              </a:rPr>
              <a:t>可为二进制幅度键控（2ASK）、移相键控（2PSK）或移频键控（2FSK）信号，码速率     可为6kbps、8kbps、10kbps中的一种</a:t>
            </a:r>
            <a:r>
              <a:rPr lang="zh-CN">
                <a:solidFill>
                  <a:schemeClr val="tx1"/>
                </a:solidFill>
              </a:rPr>
              <a:t>；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94380" y="1986915"/>
          <a:ext cx="2190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52400" imgH="228600" progId="Equation.KSEE3">
                  <p:embed/>
                </p:oleObj>
              </mc:Choice>
              <mc:Fallback>
                <p:oleObj name="" r:id="rId4" imgW="1524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4380" y="1986915"/>
                        <a:ext cx="2190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47335" y="233997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6" imgW="215900" imgH="215900" progId="Equation.KSEE3">
                  <p:embed/>
                </p:oleObj>
              </mc:Choice>
              <mc:Fallback>
                <p:oleObj name="" r:id="rId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7335" y="233997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60575" y="49911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8" imgW="215900" imgH="215900" progId="Equation.KSEE3">
                  <p:embed/>
                </p:oleObj>
              </mc:Choice>
              <mc:Fallback>
                <p:oleObj name="" r:id="rId8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0575" y="49911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89270" y="524510"/>
          <a:ext cx="289560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177165" imgH="228600" progId="Equation.KSEE3">
                  <p:embed/>
                </p:oleObj>
              </mc:Choice>
              <mc:Fallback>
                <p:oleObj name="" r:id="rId9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9270" y="524510"/>
                        <a:ext cx="289560" cy="373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6150" y="261810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11" imgW="215900" imgH="215900" progId="Equation.KSEE3">
                  <p:embed/>
                </p:oleObj>
              </mc:Choice>
              <mc:Fallback>
                <p:oleObj name="" r:id="rId1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6150" y="261810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7685" y="2651760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215900" imgH="228600" progId="Equation.KSEE3">
                  <p:embed/>
                </p:oleObj>
              </mc:Choice>
              <mc:Fallback>
                <p:oleObj name="" r:id="rId12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77685" y="2651760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8010" y="2896870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4" imgW="177165" imgH="228600" progId="Equation.KSEE3">
                  <p:embed/>
                </p:oleObj>
              </mc:Choice>
              <mc:Fallback>
                <p:oleObj name="" r:id="rId14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8010" y="2896870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394335" y="3173095"/>
            <a:ext cx="68433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ym typeface="+mn-ea"/>
              </a:rPr>
              <a:t>     若     为FM信号，估计并显示其正弦调制信号频率F、调频数     、最大频偏       ，输出解调信号    。</a:t>
            </a:r>
            <a:r>
              <a:rPr lang="en-US" altLang="zh-CN">
                <a:sym typeface="+mn-ea"/>
              </a:rPr>
              <a:t>	</a:t>
            </a:r>
            <a:endParaRPr lang="zh-CN" altLang="en-US"/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1730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6" imgW="215900" imgH="215900" progId="Equation.KSEE3">
                  <p:embed/>
                </p:oleObj>
              </mc:Choice>
              <mc:Fallback>
                <p:oleObj name="" r:id="rId1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9800" y="31730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55435" y="3173095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7" imgW="215900" imgH="228600" progId="Equation.KSEE3">
                  <p:embed/>
                </p:oleObj>
              </mc:Choice>
              <mc:Fallback>
                <p:oleObj name="" r:id="rId17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5435" y="3173095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34385" y="3453765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8" imgW="177165" imgH="228600" progId="Equation.KSEE3">
                  <p:embed/>
                </p:oleObj>
              </mc:Choice>
              <mc:Fallback>
                <p:oleObj name="" r:id="rId18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34385" y="3453765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81125" y="3460115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9" imgW="266700" imgH="228600" progId="Equation.KSEE3">
                  <p:embed/>
                </p:oleObj>
              </mc:Choice>
              <mc:Fallback>
                <p:oleObj name="" r:id="rId19" imgW="266700" imgH="2286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81125" y="3460115"/>
                        <a:ext cx="394335" cy="33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0870" y="398526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1" imgW="215900" imgH="215900" progId="Equation.KSEE3">
                  <p:embed/>
                </p:oleObj>
              </mc:Choice>
              <mc:Fallback>
                <p:oleObj name="" r:id="rId2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" y="398526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3700" y="4320540"/>
          <a:ext cx="263525" cy="29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2" imgW="203200" imgH="228600" progId="Equation.KSEE3">
                  <p:embed/>
                </p:oleObj>
              </mc:Choice>
              <mc:Fallback>
                <p:oleObj name="" r:id="rId22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33700" y="4320540"/>
                        <a:ext cx="263525" cy="296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9085" y="46335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24" imgW="215900" imgH="215900" progId="Equation.KSEE3">
                  <p:embed/>
                </p:oleObj>
              </mc:Choice>
              <mc:Fallback>
                <p:oleObj name="" r:id="rId24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9085" y="46335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8175" y="490474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5" imgW="215900" imgH="215900" progId="Equation.KSEE3">
                  <p:embed/>
                </p:oleObj>
              </mc:Choice>
              <mc:Fallback>
                <p:oleObj name="" r:id="rId25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8175" y="490474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69740" y="4945380"/>
          <a:ext cx="269875" cy="30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" r:id="rId26" imgW="203200" imgH="228600" progId="Equation.KSEE3">
                  <p:embed/>
                </p:oleObj>
              </mc:Choice>
              <mc:Fallback>
                <p:oleObj name="" r:id="rId26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69740" y="4945380"/>
                        <a:ext cx="269875" cy="303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7"/>
          <a:srcRect t="2417"/>
          <a:stretch>
            <a:fillRect/>
          </a:stretch>
        </p:blipFill>
        <p:spPr>
          <a:xfrm>
            <a:off x="7777480" y="2705100"/>
            <a:ext cx="3263900" cy="3913505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75920" y="17843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(4) ASK</a:t>
            </a:r>
            <a:r>
              <a:rPr>
                <a:solidFill>
                  <a:schemeClr val="tx1"/>
                </a:solidFill>
              </a:rPr>
              <a:t>与</a:t>
            </a:r>
            <a:r>
              <a:rPr lang="en-US">
                <a:solidFill>
                  <a:schemeClr val="tx1"/>
                </a:solidFill>
              </a:rPr>
              <a:t>AM</a:t>
            </a:r>
            <a:r>
              <a:rPr>
                <a:solidFill>
                  <a:schemeClr val="tx1"/>
                </a:solidFill>
              </a:rPr>
              <a:t>一样，全波整流，滤波，然后判决。</a:t>
            </a:r>
            <a:r>
              <a:rPr lang="zh-CN">
                <a:solidFill>
                  <a:schemeClr val="tx1"/>
                </a:solidFill>
              </a:rPr>
              <a:t>码元速率用：抽样时钟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同步。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accent1"/>
                </a:solidFill>
              </a:rPr>
              <a:t>抽样时钟</a:t>
            </a:r>
            <a:r>
              <a:rPr lang="zh-CN">
                <a:solidFill>
                  <a:schemeClr val="accent1"/>
                </a:solidFill>
              </a:rPr>
              <a:t>：</a:t>
            </a:r>
            <a:r>
              <a:rPr>
                <a:solidFill>
                  <a:schemeClr val="accent1"/>
                </a:solidFill>
              </a:rPr>
              <a:t>公因数为3*4*5=60.假设时钟为30M。码元速率6kbps，一个周期被采样采了5000个点</a:t>
            </a:r>
            <a:r>
              <a:rPr lang="zh-CN">
                <a:solidFill>
                  <a:schemeClr val="accent1"/>
                </a:solidFill>
              </a:rPr>
              <a:t>。</a:t>
            </a:r>
            <a:endParaRPr lang="zh-CN">
              <a:solidFill>
                <a:schemeClr val="accent1"/>
              </a:solidFill>
            </a:endParaRPr>
          </a:p>
          <a:p>
            <a:pPr algn="l"/>
            <a:r>
              <a:rPr lang="zh-CN">
                <a:solidFill>
                  <a:schemeClr val="accent1"/>
                </a:solidFill>
              </a:rPr>
              <a:t>同步：</a:t>
            </a:r>
            <a:r>
              <a:rPr>
                <a:solidFill>
                  <a:schemeClr val="accent1"/>
                </a:solidFill>
              </a:rPr>
              <a:t>设个阈值，如果连续10次小于阈值且处于状态读高，则跳到状态读低。</a:t>
            </a:r>
            <a:r>
              <a:rPr lang="zh-CN">
                <a:solidFill>
                  <a:schemeClr val="accent1"/>
                </a:solidFill>
              </a:rPr>
              <a:t>这样子可以在状态跳变时候进行同步采样了。</a:t>
            </a:r>
            <a:endParaRPr>
              <a:solidFill>
                <a:schemeClr val="accent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FSK</a:t>
            </a:r>
            <a:r>
              <a:rPr lang="zh-CN" altLang="en-US">
                <a:solidFill>
                  <a:schemeClr val="tx1"/>
                </a:solidFill>
              </a:rPr>
              <a:t>解调方法跟</a:t>
            </a:r>
            <a:r>
              <a:rPr lang="en-US" altLang="zh-CN">
                <a:solidFill>
                  <a:schemeClr val="tx1"/>
                </a:solidFill>
              </a:rPr>
              <a:t>FM</a:t>
            </a:r>
            <a:r>
              <a:rPr lang="zh-CN" altLang="en-US">
                <a:solidFill>
                  <a:schemeClr val="tx1"/>
                </a:solidFill>
              </a:rPr>
              <a:t>一样。频移键控</a:t>
            </a:r>
            <a:r>
              <a:rPr lang="en-US" altLang="zh-CN">
                <a:solidFill>
                  <a:schemeClr val="tx1"/>
                </a:solidFill>
              </a:rPr>
              <a:t>h</a:t>
            </a:r>
            <a:r>
              <a:rPr lang="zh-CN" altLang="en-US">
                <a:solidFill>
                  <a:schemeClr val="tx1"/>
                </a:solidFill>
              </a:rPr>
              <a:t>等于两个频率峰值相减乘上码元周期。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PSK</a:t>
            </a:r>
            <a:r>
              <a:rPr lang="zh-CN" altLang="en-US">
                <a:solidFill>
                  <a:schemeClr val="tx1"/>
                </a:solidFill>
              </a:rPr>
              <a:t>解调方法：差分解调，将当前信号与延迟180度的信号相乘，乘法结果的正负变化反映了相位跳变。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  <a:p>
            <a:pPr algn="l"/>
            <a:endParaRPr lang="zh-CN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3212" t="20492" r="4399"/>
          <a:stretch>
            <a:fillRect/>
          </a:stretch>
        </p:blipFill>
        <p:spPr>
          <a:xfrm>
            <a:off x="429260" y="403860"/>
            <a:ext cx="7203440" cy="111823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77520" y="1585595"/>
            <a:ext cx="715581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信号发生器输出可能为AM、FM或连续载波（CW）三种信号，其载波电压峰峰值为100mV、载频    为2MHz</a:t>
            </a:r>
            <a:r>
              <a:rPr lang="zh-CN">
                <a:solidFill>
                  <a:schemeClr val="tx1"/>
                </a:solidFill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914400" imgH="215900" progId="Equation.KSEE3">
                  <p:embed/>
                </p:oleObj>
              </mc:Choice>
              <mc:Fallback>
                <p:oleObj name="" r:id="rId2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94335" y="2339975"/>
            <a:ext cx="68973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(1)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(2)</a:t>
            </a:r>
            <a:r>
              <a:rPr lang="zh-CN" altLang="en-US">
                <a:sym typeface="+mn-ea"/>
              </a:rPr>
              <a:t>若     为</a:t>
            </a:r>
            <a:r>
              <a:rPr lang="en-US" altLang="zh-CN">
                <a:sym typeface="+mn-ea"/>
              </a:rPr>
              <a:t>AM</a:t>
            </a:r>
            <a:r>
              <a:rPr lang="zh-CN" altLang="en-US">
                <a:sym typeface="+mn-ea"/>
              </a:rPr>
              <a:t>信号，估计并显示其正弦调制信号频率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，调频系数    ，输出解调信号     。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1640" y="4633595"/>
            <a:ext cx="68973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sym typeface="+mn-ea"/>
              </a:rPr>
              <a:t>(3) </a:t>
            </a:r>
            <a:r>
              <a:rPr lang="zh-CN">
                <a:sym typeface="+mn-ea"/>
              </a:rPr>
              <a:t>未知调制方式条件下，装置可自主识别并显示     的调制方式。</a:t>
            </a:r>
            <a:endParaRPr 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(4)</a:t>
            </a:r>
            <a:r>
              <a:rPr>
                <a:sym typeface="+mn-ea"/>
              </a:rPr>
              <a:t>估计并显示      传输的二进制码速率     ，在示波器上显示解调输出的二进制码序列波形</a:t>
            </a:r>
            <a:r>
              <a:rPr lang="en-US">
                <a:sym typeface="+mn-ea"/>
              </a:rPr>
              <a:t>.</a:t>
            </a:r>
            <a:r>
              <a:rPr lang="zh-CN" altLang="en-US">
                <a:sym typeface="+mn-ea"/>
              </a:rPr>
              <a:t>若为</a:t>
            </a: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FSK</a:t>
            </a:r>
            <a:r>
              <a:rPr lang="zh-CN" altLang="en-US">
                <a:sym typeface="+mn-ea"/>
              </a:rPr>
              <a:t>计算</a:t>
            </a:r>
            <a:r>
              <a:rPr lang="en-US" altLang="zh-CN">
                <a:sym typeface="+mn-ea"/>
              </a:rPr>
              <a:t>移频键控系数h，</a:t>
            </a:r>
            <a:endParaRPr lang="en-US" altLang="zh-CN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0705" y="3890010"/>
            <a:ext cx="7155815" cy="115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>
                <a:solidFill>
                  <a:schemeClr val="tx1"/>
                </a:solidFill>
              </a:rPr>
              <a:t>     </a:t>
            </a:r>
            <a:r>
              <a:rPr>
                <a:solidFill>
                  <a:schemeClr val="tx1"/>
                </a:solidFill>
              </a:rPr>
              <a:t>可为二进制幅度键控（2ASK）、移相键控（2PSK）或移频键控（2FSK）信号，码速率     可为6kbps、8kbps、10kbps中的一种</a:t>
            </a:r>
            <a:r>
              <a:rPr lang="zh-CN">
                <a:solidFill>
                  <a:schemeClr val="tx1"/>
                </a:solidFill>
              </a:rPr>
              <a:t>；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94380" y="1986915"/>
          <a:ext cx="2190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152400" imgH="228600" progId="Equation.KSEE3">
                  <p:embed/>
                </p:oleObj>
              </mc:Choice>
              <mc:Fallback>
                <p:oleObj name="" r:id="rId4" imgW="1524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4380" y="1986915"/>
                        <a:ext cx="2190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47335" y="233997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6" imgW="215900" imgH="215900" progId="Equation.KSEE3">
                  <p:embed/>
                </p:oleObj>
              </mc:Choice>
              <mc:Fallback>
                <p:oleObj name="" r:id="rId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7335" y="233997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60575" y="49911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8" imgW="215900" imgH="215900" progId="Equation.KSEE3">
                  <p:embed/>
                </p:oleObj>
              </mc:Choice>
              <mc:Fallback>
                <p:oleObj name="" r:id="rId8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0575" y="49911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89270" y="524510"/>
          <a:ext cx="289560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177165" imgH="228600" progId="Equation.KSEE3">
                  <p:embed/>
                </p:oleObj>
              </mc:Choice>
              <mc:Fallback>
                <p:oleObj name="" r:id="rId9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9270" y="524510"/>
                        <a:ext cx="289560" cy="373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6150" y="261810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11" imgW="215900" imgH="215900" progId="Equation.KSEE3">
                  <p:embed/>
                </p:oleObj>
              </mc:Choice>
              <mc:Fallback>
                <p:oleObj name="" r:id="rId11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6150" y="261810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7685" y="2651760"/>
          <a:ext cx="29654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2" imgW="215900" imgH="228600" progId="Equation.KSEE3">
                  <p:embed/>
                </p:oleObj>
              </mc:Choice>
              <mc:Fallback>
                <p:oleObj name="" r:id="rId12" imgW="215900" imgH="2286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77685" y="2651760"/>
                        <a:ext cx="29654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8010" y="2896870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4" imgW="177165" imgH="228600" progId="Equation.KSEE3">
                  <p:embed/>
                </p:oleObj>
              </mc:Choice>
              <mc:Fallback>
                <p:oleObj name="" r:id="rId14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58010" y="2896870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394970" y="3173095"/>
            <a:ext cx="69240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ym typeface="+mn-ea"/>
              </a:rPr>
              <a:t>     若     为FM信号，估计并显示其正弦调制信号频率F、调频系数     、最大频偏▽       ，输出解调信号    。</a:t>
            </a:r>
            <a:r>
              <a:rPr lang="en-US" altLang="zh-CN">
                <a:sym typeface="+mn-ea"/>
              </a:rPr>
              <a:t>	</a:t>
            </a:r>
            <a:endParaRPr lang="zh-CN" altLang="en-US"/>
          </a:p>
        </p:txBody>
      </p: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1730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6" imgW="215900" imgH="215900" progId="Equation.KSEE3">
                  <p:embed/>
                </p:oleObj>
              </mc:Choice>
              <mc:Fallback>
                <p:oleObj name="" r:id="rId1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9800" y="31730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7685" y="3187383"/>
          <a:ext cx="296545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7" imgW="215900" imgH="215900" progId="Equation.KSEE3">
                  <p:embed/>
                </p:oleObj>
              </mc:Choice>
              <mc:Fallback>
                <p:oleObj name="" r:id="rId17" imgW="215900" imgH="2159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77685" y="3187383"/>
                        <a:ext cx="296545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37585" y="3456305"/>
          <a:ext cx="251460" cy="32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9" imgW="177165" imgH="228600" progId="Equation.KSEE3">
                  <p:embed/>
                </p:oleObj>
              </mc:Choice>
              <mc:Fallback>
                <p:oleObj name="" r:id="rId19" imgW="177165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37585" y="3456305"/>
                        <a:ext cx="251460" cy="32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88135" y="3456305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21" imgW="266700" imgH="228600" progId="Equation.KSEE3">
                  <p:embed/>
                </p:oleObj>
              </mc:Choice>
              <mc:Fallback>
                <p:oleObj name="" r:id="rId21" imgW="266700" imgH="2286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135" y="3456305"/>
                        <a:ext cx="394335" cy="33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0870" y="398526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3" imgW="215900" imgH="215900" progId="Equation.KSEE3">
                  <p:embed/>
                </p:oleObj>
              </mc:Choice>
              <mc:Fallback>
                <p:oleObj name="" r:id="rId23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870" y="398526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3700" y="4320540"/>
          <a:ext cx="263525" cy="29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4" imgW="203200" imgH="228600" progId="Equation.KSEE3">
                  <p:embed/>
                </p:oleObj>
              </mc:Choice>
              <mc:Fallback>
                <p:oleObj name="" r:id="rId24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33700" y="4320540"/>
                        <a:ext cx="263525" cy="296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9085" y="4633595"/>
          <a:ext cx="31178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26" imgW="215900" imgH="215900" progId="Equation.KSEE3">
                  <p:embed/>
                </p:oleObj>
              </mc:Choice>
              <mc:Fallback>
                <p:oleObj name="" r:id="rId26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9085" y="4633595"/>
                        <a:ext cx="31178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8175" y="4904740"/>
          <a:ext cx="335280" cy="33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7" imgW="215900" imgH="215900" progId="Equation.KSEE3">
                  <p:embed/>
                </p:oleObj>
              </mc:Choice>
              <mc:Fallback>
                <p:oleObj name="" r:id="rId27" imgW="2159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8175" y="4904740"/>
                        <a:ext cx="335280" cy="335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69740" y="4945380"/>
          <a:ext cx="269875" cy="30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" r:id="rId28" imgW="203200" imgH="228600" progId="Equation.KSEE3">
                  <p:embed/>
                </p:oleObj>
              </mc:Choice>
              <mc:Fallback>
                <p:oleObj name="" r:id="rId28" imgW="203200" imgH="2286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69740" y="4945380"/>
                        <a:ext cx="269875" cy="303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07695" y="334010"/>
            <a:ext cx="3505200" cy="3049270"/>
            <a:chOff x="2321" y="1446"/>
            <a:chExt cx="5520" cy="48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t="7105" b="5187"/>
            <a:stretch>
              <a:fillRect/>
            </a:stretch>
          </p:blipFill>
          <p:spPr>
            <a:xfrm>
              <a:off x="2321" y="1446"/>
              <a:ext cx="5520" cy="480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3723" y="1981"/>
              <a:ext cx="2795" cy="685"/>
            </a:xfrm>
            <a:prstGeom prst="rect">
              <a:avLst/>
            </a:prstGeom>
            <a:solidFill>
              <a:srgbClr val="FBE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未知滤波电路</a:t>
              </a:r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724" y="5132"/>
              <a:ext cx="2714" cy="68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FPGA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4295775" y="1003935"/>
            <a:ext cx="3267075" cy="2060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滤波电路的传递函数</a:t>
            </a:r>
            <a:r>
              <a:rPr lang="en-US" altLang="zh-CN">
                <a:solidFill>
                  <a:schemeClr val="tx1"/>
                </a:solidFill>
              </a:rPr>
              <a:t>H(s)</a:t>
            </a:r>
            <a:r>
              <a:rPr lang="zh-CN" altLang="en-US">
                <a:solidFill>
                  <a:schemeClr val="tx1"/>
                </a:solidFill>
              </a:rPr>
              <a:t>未知。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(1) FPGA</a:t>
            </a:r>
            <a:r>
              <a:rPr lang="zh-CN" altLang="en-US">
                <a:solidFill>
                  <a:schemeClr val="tx1"/>
                </a:solidFill>
              </a:rPr>
              <a:t>与滤波电路连接起来，对电路进行自主学习，建模，判断滤波类型。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3656965"/>
            <a:ext cx="4342130" cy="288417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31715" y="2744470"/>
            <a:ext cx="2846070" cy="3796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信号发生器的输出为频率1kHz~50kHz（步长200Hz）、  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周期信号类型分别为：正弦波、矩形波（占空比10%~50%、步长5%）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77440" y="4881245"/>
            <a:ext cx="1356360" cy="434975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未知滤波电路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77440" y="5754370"/>
            <a:ext cx="1356360" cy="434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FPGA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16520" y="177800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输出</a:t>
            </a:r>
            <a:r>
              <a:rPr lang="zh-CN" altLang="en-US">
                <a:solidFill>
                  <a:schemeClr val="tx1"/>
                </a:solidFill>
              </a:rPr>
              <a:t>正弦信号通过滤波电路，接收输出，相除得到该频点的幅频特性，设置分辨率，扫描，得到频谱图，即可判断滤波类型。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问题：时钟域问题，状态转换和状态中的操作两个部分用的时钟不一样，导致状态机跑飞了，两个都用慢的时钟才行。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状态寄存器可能在快时钟域更新后，慢时钟域的操作逻辑尚未感知到新状态，导致逻辑不一致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传递函数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H(s)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已知，输入信号进行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X(s)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Y(s) = X(s)*H(s),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y(t)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endParaRPr lang="zh-CN" altLang="en-US">
              <a:solidFill>
                <a:schemeClr val="accent1"/>
              </a:solidFill>
              <a:sym typeface="+mn-ea"/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  <a:sym typeface="+mn-ea"/>
              </a:rPr>
              <a:t>注意：矩形波的频谱分析要分析到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10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倍频，此时频率达到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5MHz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，而分辨率为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200Hz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，意味着要扫描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25k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个频点。此时学习时间太久。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>
                <a:solidFill>
                  <a:schemeClr val="accent1"/>
                </a:solidFill>
                <a:sym typeface="+mn-ea"/>
              </a:rPr>
              <a:t>200=fs/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采样点，而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ADC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的采样频率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fs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只能到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1Mbps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，采样点为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5k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个。但是采样点要求为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次方，所以采样频率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fs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不能是完美的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1Mbps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68470" y="2529840"/>
            <a:ext cx="3267075" cy="155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(2) </a:t>
            </a:r>
            <a:r>
              <a:rPr lang="zh-CN">
                <a:solidFill>
                  <a:schemeClr val="tx1"/>
                </a:solidFill>
                <a:sym typeface="+mn-ea"/>
              </a:rPr>
              <a:t>连接</a:t>
            </a:r>
            <a:r>
              <a:rPr>
                <a:solidFill>
                  <a:schemeClr val="tx1"/>
                </a:solidFill>
                <a:sym typeface="+mn-ea"/>
              </a:rPr>
              <a:t>信号发生器</a:t>
            </a:r>
            <a:r>
              <a:rPr lang="zh-CN">
                <a:solidFill>
                  <a:schemeClr val="tx1"/>
                </a:solidFill>
                <a:sym typeface="+mn-ea"/>
              </a:rPr>
              <a:t>，使滤波电路</a:t>
            </a:r>
            <a:r>
              <a:rPr>
                <a:solidFill>
                  <a:schemeClr val="tx1"/>
                </a:solidFill>
                <a:sym typeface="+mn-ea"/>
              </a:rPr>
              <a:t>和</a:t>
            </a:r>
            <a:r>
              <a:rPr lang="en-US">
                <a:solidFill>
                  <a:schemeClr val="tx1"/>
                </a:solidFill>
                <a:sym typeface="+mn-ea"/>
              </a:rPr>
              <a:t>FPGA</a:t>
            </a:r>
            <a:r>
              <a:rPr>
                <a:solidFill>
                  <a:schemeClr val="tx1"/>
                </a:solidFill>
                <a:sym typeface="+mn-ea"/>
              </a:rPr>
              <a:t>的输出信号相比波形无失真、在示波器上能连续同频稳定显示</a:t>
            </a:r>
            <a:r>
              <a:rPr lang="zh-CN">
                <a:solidFill>
                  <a:schemeClr val="tx1"/>
                </a:solidFill>
                <a:sym typeface="+mn-ea"/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07695" y="334010"/>
            <a:ext cx="3505200" cy="3049270"/>
            <a:chOff x="2321" y="1446"/>
            <a:chExt cx="5520" cy="48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t="7105" b="5187"/>
            <a:stretch>
              <a:fillRect/>
            </a:stretch>
          </p:blipFill>
          <p:spPr>
            <a:xfrm>
              <a:off x="2321" y="1446"/>
              <a:ext cx="5520" cy="480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3723" y="1981"/>
              <a:ext cx="2795" cy="685"/>
            </a:xfrm>
            <a:prstGeom prst="rect">
              <a:avLst/>
            </a:prstGeom>
            <a:solidFill>
              <a:srgbClr val="FBE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未知滤波电路</a:t>
              </a:r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724" y="5132"/>
              <a:ext cx="2714" cy="68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FPGA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4295775" y="1003935"/>
            <a:ext cx="3267075" cy="2060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滤波电路的传递函数</a:t>
            </a:r>
            <a:r>
              <a:rPr lang="en-US" altLang="zh-CN">
                <a:solidFill>
                  <a:schemeClr val="tx1"/>
                </a:solidFill>
              </a:rPr>
              <a:t>H(s)</a:t>
            </a:r>
            <a:r>
              <a:rPr lang="zh-CN" altLang="en-US">
                <a:solidFill>
                  <a:schemeClr val="tx1"/>
                </a:solidFill>
              </a:rPr>
              <a:t>未知。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(1) FPGA</a:t>
            </a:r>
            <a:r>
              <a:rPr lang="zh-CN" altLang="en-US">
                <a:solidFill>
                  <a:schemeClr val="tx1"/>
                </a:solidFill>
              </a:rPr>
              <a:t>与滤波电路连接起来，对电路进行自主学习，建模，判断滤波类型。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3656965"/>
            <a:ext cx="4342130" cy="288417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31715" y="2744470"/>
            <a:ext cx="2846070" cy="3796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信号发生器的输出为频率1kHz~50kHz（步长200Hz）、  </a:t>
            </a:r>
            <a:endParaRPr>
              <a:solidFill>
                <a:schemeClr val="tx1"/>
              </a:solidFill>
            </a:endParaRPr>
          </a:p>
          <a:p>
            <a:pPr algn="l"/>
            <a:r>
              <a:rPr>
                <a:solidFill>
                  <a:schemeClr val="tx1"/>
                </a:solidFill>
              </a:rPr>
              <a:t>周期信号类型分别为：正弦波、矩形波（占空比10%~50%、步长5%）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77440" y="4881245"/>
            <a:ext cx="1356360" cy="434975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未知滤波电路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77440" y="5754370"/>
            <a:ext cx="1356360" cy="434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FPGA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716520" y="177800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输出</a:t>
            </a:r>
            <a:r>
              <a:rPr lang="zh-CN" altLang="en-US">
                <a:solidFill>
                  <a:schemeClr val="tx1"/>
                </a:solidFill>
              </a:rPr>
              <a:t>正弦信号通过滤波电路，接收输出，相除得到该频点的幅频特性，设置分辨率，扫描，得到频谱图，即可判断滤波类型。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问题：时钟域问题，状态转换和状态中的操作两个部分用的时钟不一样，导致状态机跑飞了，两个都用慢的时钟才行。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</a:rPr>
              <a:t>状态寄存器可能在快时钟域更新后，慢时钟域的操作逻辑尚未感知到新状态，导致逻辑不一致</a:t>
            </a:r>
            <a:endParaRPr lang="zh-CN" altLang="en-US">
              <a:solidFill>
                <a:schemeClr val="accent1"/>
              </a:solidFill>
            </a:endParaRPr>
          </a:p>
          <a:p>
            <a:pPr algn="l"/>
            <a:endParaRPr lang="zh-CN" altLang="en-US">
              <a:solidFill>
                <a:schemeClr val="accent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传递函数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H(s)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已知，输入信号进行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X(s)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Y(s) = X(s)*H(s),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y(t)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/>
            <a:endParaRPr lang="zh-CN" altLang="en-US">
              <a:solidFill>
                <a:schemeClr val="accent1"/>
              </a:solidFill>
              <a:sym typeface="+mn-ea"/>
            </a:endParaRPr>
          </a:p>
          <a:p>
            <a:pPr algn="l"/>
            <a:r>
              <a:rPr lang="zh-CN" altLang="en-US">
                <a:solidFill>
                  <a:schemeClr val="accent1"/>
                </a:solidFill>
                <a:sym typeface="+mn-ea"/>
              </a:rPr>
              <a:t>注意：矩形波的频谱分析要分析到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10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倍频，此时频率达到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5MHz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，而分辨率为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200Hz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，意味着要扫描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25k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个频点。此时学习时间太久。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>
                <a:solidFill>
                  <a:schemeClr val="accent1"/>
                </a:solidFill>
                <a:sym typeface="+mn-ea"/>
              </a:rPr>
              <a:t>200=fs/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采样点，而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ADC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的采样频率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fs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只能到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1Mbps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，采样点为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5k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个。但是采样点要求为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次方，所以采样频率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fs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不能是完美的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1Mbps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68470" y="2529840"/>
            <a:ext cx="3267075" cy="155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  <a:sym typeface="+mn-ea"/>
              </a:rPr>
              <a:t>(2) </a:t>
            </a:r>
            <a:r>
              <a:rPr lang="zh-CN">
                <a:solidFill>
                  <a:schemeClr val="tx1"/>
                </a:solidFill>
                <a:sym typeface="+mn-ea"/>
              </a:rPr>
              <a:t>连接</a:t>
            </a:r>
            <a:r>
              <a:rPr>
                <a:solidFill>
                  <a:schemeClr val="tx1"/>
                </a:solidFill>
                <a:sym typeface="+mn-ea"/>
              </a:rPr>
              <a:t>信号发生器</a:t>
            </a:r>
            <a:r>
              <a:rPr lang="zh-CN">
                <a:solidFill>
                  <a:schemeClr val="tx1"/>
                </a:solidFill>
                <a:sym typeface="+mn-ea"/>
              </a:rPr>
              <a:t>，使滤波电路</a:t>
            </a:r>
            <a:r>
              <a:rPr>
                <a:solidFill>
                  <a:schemeClr val="tx1"/>
                </a:solidFill>
                <a:sym typeface="+mn-ea"/>
              </a:rPr>
              <a:t>和</a:t>
            </a:r>
            <a:r>
              <a:rPr lang="en-US">
                <a:solidFill>
                  <a:schemeClr val="tx1"/>
                </a:solidFill>
                <a:sym typeface="+mn-ea"/>
              </a:rPr>
              <a:t>FPGA</a:t>
            </a:r>
            <a:r>
              <a:rPr>
                <a:solidFill>
                  <a:schemeClr val="tx1"/>
                </a:solidFill>
                <a:sym typeface="+mn-ea"/>
              </a:rPr>
              <a:t>的输出信号相比波形无失真、在示波器上能连续同频稳定显示</a:t>
            </a:r>
            <a:r>
              <a:rPr lang="zh-CN">
                <a:solidFill>
                  <a:schemeClr val="tx1"/>
                </a:solidFill>
                <a:sym typeface="+mn-ea"/>
              </a:rPr>
              <a:t>。</a:t>
            </a:r>
            <a:endParaRPr lang="zh-CN">
              <a:solidFill>
                <a:schemeClr val="tx1"/>
              </a:solidFill>
            </a:endParaRPr>
          </a:p>
          <a:p>
            <a:pPr algn="l"/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当我们信号经过一个放大器时，由于放大器转移特性的非线性，可能一个正弦波出来不再是正弦波，而是正弦波频率为基频，伴有谐波基频分量的周期信号。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信号5次谐波最高为500kHz，而AD为1M只能恰好满足奈奎斯特频率。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因此不能直接采样，不然做不出来。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使用周期信号等效采样定理。数字示波器核心技术。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把高频、快速信号变成低频、慢速重复信号。一般在重复信号的每个周期或相隔几个周期取一个样,而每个取样点分别取自每个输入信号波形不同的位置上,若干个取样点成为一个周期, 可以组成类似于原信号的一个周期的波形, 但是周期拉长了。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25040" y="271145"/>
            <a:ext cx="3178810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低频限制下的</a:t>
            </a:r>
            <a:r>
              <a:rPr>
                <a:solidFill>
                  <a:schemeClr val="tx1"/>
                </a:solidFill>
              </a:rPr>
              <a:t>失真度测量装置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77520" y="702945"/>
            <a:ext cx="7155815" cy="45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测得</a:t>
            </a:r>
            <a:r>
              <a:rPr lang="zh-CN">
                <a:solidFill>
                  <a:schemeClr val="tx1"/>
                </a:solidFill>
              </a:rPr>
              <a:t>周期</a:t>
            </a:r>
            <a:r>
              <a:rPr>
                <a:solidFill>
                  <a:schemeClr val="tx1"/>
                </a:solidFill>
              </a:rPr>
              <a:t>信号的总谐波失真THD，并在手机上显示测量信息。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074420"/>
            <a:ext cx="6610350" cy="1828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560705" y="2823845"/>
            <a:ext cx="7155815" cy="180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(1) 输入信号基频范围：1kHz ~100kHz。 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限制</a:t>
            </a:r>
            <a:r>
              <a:rPr lang="en-US" altLang="zh-CN">
                <a:solidFill>
                  <a:schemeClr val="tx1"/>
                </a:solidFill>
              </a:rPr>
              <a:t>ADC</a:t>
            </a:r>
            <a:r>
              <a:rPr lang="zh-CN" altLang="en-US">
                <a:solidFill>
                  <a:schemeClr val="tx1"/>
                </a:solidFill>
              </a:rPr>
              <a:t>采样时钟只能为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200k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1MHz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或</a:t>
            </a:r>
            <a:r>
              <a:rPr lang="zh-CN" altLang="en-US">
                <a:solidFill>
                  <a:schemeClr val="tx1"/>
                </a:solidFill>
              </a:rPr>
              <a:t>1.1M</a:t>
            </a:r>
            <a:r>
              <a:rPr lang="en-US" altLang="zh-CN">
                <a:solidFill>
                  <a:schemeClr val="tx1"/>
                </a:solidFill>
              </a:rPr>
              <a:t>Hz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测量并显示输入信号失真度THD值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(3) 显示输入信号基波与谐波的归一化幅值，只显示到5次谐波。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(4) 在手机上显示测量装置测得并显示的输入信号THD值、基波与谐波的归一化幅值。 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  <a:sym typeface="+mn-ea"/>
              </a:rPr>
              <a:t>顺序采样，可以用极低的采样频率获得极高的带宽，只针对周期信号，先算频率，先正常采样，用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算出基波频率，已知频率，就可以代进顺序采样的公式，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Ts = KT+T/N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为信号频率，算出需要的采样频率，用需要的采样频率去采他，采到的收集起来，然后输入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，得到频谱图，最高的峰值就是基波，地址倍数关系就对应倍数基波。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时钟只要</a:t>
            </a:r>
            <a:r>
              <a:rPr lang="zh-CN">
                <a:solidFill>
                  <a:schemeClr val="tx1"/>
                </a:solidFill>
                <a:sym typeface="+mn-ea"/>
              </a:rPr>
              <a:t>大于采样频率就行。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单片机蓝牙连接到手机。网口数据传输或者简单一点就串口传输。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25040" y="271145"/>
            <a:ext cx="3178810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低频限制下的</a:t>
            </a:r>
            <a:r>
              <a:rPr>
                <a:solidFill>
                  <a:schemeClr val="tx1"/>
                </a:solidFill>
              </a:rPr>
              <a:t>失真度测量装置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77520" y="702945"/>
            <a:ext cx="7155815" cy="45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测得</a:t>
            </a:r>
            <a:r>
              <a:rPr lang="zh-CN">
                <a:solidFill>
                  <a:schemeClr val="tx1"/>
                </a:solidFill>
              </a:rPr>
              <a:t>周期</a:t>
            </a:r>
            <a:r>
              <a:rPr>
                <a:solidFill>
                  <a:schemeClr val="tx1"/>
                </a:solidFill>
              </a:rPr>
              <a:t>信号的总谐波失真THD，并在手机上显示测量信息。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074420"/>
            <a:ext cx="6610350" cy="1828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560705" y="2823845"/>
            <a:ext cx="7155815" cy="180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(1) 输入信号基频范围：1kHz ~100kHz。 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限制</a:t>
            </a:r>
            <a:r>
              <a:rPr lang="en-US" altLang="zh-CN">
                <a:solidFill>
                  <a:schemeClr val="tx1"/>
                </a:solidFill>
              </a:rPr>
              <a:t>ADC</a:t>
            </a:r>
            <a:r>
              <a:rPr lang="zh-CN" altLang="en-US">
                <a:solidFill>
                  <a:schemeClr val="tx1"/>
                </a:solidFill>
              </a:rPr>
              <a:t>采样时钟只能为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200k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1MHz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或</a:t>
            </a:r>
            <a:r>
              <a:rPr lang="zh-CN" altLang="en-US">
                <a:solidFill>
                  <a:schemeClr val="tx1"/>
                </a:solidFill>
              </a:rPr>
              <a:t>1.1M</a:t>
            </a:r>
            <a:r>
              <a:rPr lang="en-US" altLang="zh-CN">
                <a:solidFill>
                  <a:schemeClr val="tx1"/>
                </a:solidFill>
              </a:rPr>
              <a:t>Hz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测量并显示输入信号失真度THD值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(3) 显示输入信号基波与谐波的归一化幅值，只显示到5次谐波。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(4) 在手机上显示测量装置测得并显示的输入信号THD值、基波与谐波的归一化幅值。 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4335" y="173355"/>
            <a:ext cx="7322185" cy="65017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ym typeface="+mn-ea"/>
              </a:rPr>
              <a:t>     若    识别为FM信号，估计并显示其正弦调制信号频率F、调频系数、最大频偏 </a:t>
            </a: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max，输出解调信号</a:t>
            </a:r>
            <a:r>
              <a:rPr lang="en-US" altLang="zh-CN">
                <a:sym typeface="+mn-ea"/>
              </a:rPr>
              <a:t>u0	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16520" y="173355"/>
            <a:ext cx="4320540" cy="6501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  <a:sym typeface="+mn-ea"/>
              </a:rPr>
              <a:t>顺序采样，可以用极低的采样频率获得极高的带宽，只针对周期信号，先算频率，先正常采样，用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算出基波频率，已知频率，就可以代进顺序采样的公式，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Ts = KT+T/N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为信号频率，算出需要的采样频率，用需要的采样频率去采他，采到的收集起来，然后输入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，得到频谱图，最高的峰值就是基波，地址倍数关系就对应倍数基波。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FFT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时钟只要</a:t>
            </a:r>
            <a:r>
              <a:rPr lang="zh-CN">
                <a:solidFill>
                  <a:schemeClr val="tx1"/>
                </a:solidFill>
                <a:sym typeface="+mn-ea"/>
              </a:rPr>
              <a:t>大于采样频率就行。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单片机蓝牙连接到手机。网口数据传输或者简单一点就串口传输。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982470" y="334645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55920" y="403860"/>
            <a:ext cx="714375" cy="3683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pPr algn="l"/>
            <a:endParaRPr lang="en-US" altLang="zh-CN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25040" y="271145"/>
            <a:ext cx="3178810" cy="49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olidFill>
                  <a:schemeClr val="tx1"/>
                </a:solidFill>
              </a:rPr>
              <a:t>低频限制下的</a:t>
            </a:r>
            <a:r>
              <a:rPr>
                <a:solidFill>
                  <a:schemeClr val="tx1"/>
                </a:solidFill>
              </a:rPr>
              <a:t>失真度测量装置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77520" y="702945"/>
            <a:ext cx="7155815" cy="45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>
                <a:solidFill>
                  <a:schemeClr val="tx1"/>
                </a:solidFill>
              </a:rPr>
              <a:t>测得</a:t>
            </a:r>
            <a:r>
              <a:rPr lang="zh-CN">
                <a:solidFill>
                  <a:schemeClr val="tx1"/>
                </a:solidFill>
              </a:rPr>
              <a:t>周期</a:t>
            </a:r>
            <a:r>
              <a:rPr>
                <a:solidFill>
                  <a:schemeClr val="tx1"/>
                </a:solidFill>
              </a:rPr>
              <a:t>信号的总谐波失真THD，并在手机上显示测量信息。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074420"/>
            <a:ext cx="6610350" cy="18288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560705" y="2823845"/>
            <a:ext cx="7155815" cy="180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(1) 输入信号基频范围：1kHz ~100kHz。 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限制</a:t>
            </a:r>
            <a:r>
              <a:rPr lang="en-US" altLang="zh-CN">
                <a:solidFill>
                  <a:schemeClr val="tx1"/>
                </a:solidFill>
              </a:rPr>
              <a:t>ADC</a:t>
            </a:r>
            <a:r>
              <a:rPr lang="zh-CN" altLang="en-US">
                <a:solidFill>
                  <a:schemeClr val="tx1"/>
                </a:solidFill>
              </a:rPr>
              <a:t>采样时钟只能为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200k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1MHz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或</a:t>
            </a:r>
            <a:r>
              <a:rPr lang="zh-CN" altLang="en-US">
                <a:solidFill>
                  <a:schemeClr val="tx1"/>
                </a:solidFill>
              </a:rPr>
              <a:t>1.1M</a:t>
            </a:r>
            <a:r>
              <a:rPr lang="en-US" altLang="zh-CN">
                <a:solidFill>
                  <a:schemeClr val="tx1"/>
                </a:solidFill>
              </a:rPr>
              <a:t>Hz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(2) 测量并显示输入信号失真度THD值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(3) 显示输入信号基波与谐波的归一化幅值，只显示到5次谐波。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(4) 在手机上显示测量装置测得并显示的输入信号THD值、基波与谐波的归一化幅值。 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6041</Words>
  <Application>WPS 演示</Application>
  <PresentationFormat>自定义</PresentationFormat>
  <Paragraphs>286</Paragraphs>
  <Slides>12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77</vt:i4>
      </vt:variant>
      <vt:variant>
        <vt:lpstr>幻灯片标题</vt:lpstr>
      </vt:variant>
      <vt:variant>
        <vt:i4>12</vt:i4>
      </vt:variant>
    </vt:vector>
  </HeadingPairs>
  <TitlesOfParts>
    <vt:vector size="107" baseType="lpstr">
      <vt:lpstr>Arial</vt:lpstr>
      <vt:lpstr>宋体</vt:lpstr>
      <vt:lpstr>Wingdings</vt:lpstr>
      <vt:lpstr>HarmonyOS Sans Light</vt:lpstr>
      <vt:lpstr>Segoe Print</vt:lpstr>
      <vt:lpstr>微软雅黑</vt:lpstr>
      <vt:lpstr>楷体</vt:lpstr>
      <vt:lpstr>阿里巴巴普惠体</vt:lpstr>
      <vt:lpstr>NotoSansSC-Bold</vt:lpstr>
      <vt:lpstr>等线</vt:lpstr>
      <vt:lpstr>思源黑体 CN Normal</vt:lpstr>
      <vt:lpstr>方正吕建德字体</vt:lpstr>
      <vt:lpstr>Arial Unicode MS</vt:lpstr>
      <vt:lpstr>Times New Roman</vt:lpstr>
      <vt:lpstr>Calibri</vt:lpstr>
      <vt:lpstr>MingLiU-ExtB</vt:lpstr>
      <vt:lpstr>黑体</vt:lpstr>
      <vt:lpstr>自定义设计方案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盒琊</cp:lastModifiedBy>
  <cp:revision>296</cp:revision>
  <dcterms:created xsi:type="dcterms:W3CDTF">2024-11-20T11:15:00Z</dcterms:created>
  <dcterms:modified xsi:type="dcterms:W3CDTF">2025-09-25T02:26:28Z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